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Surjith S from the Department of Information Technology. This review covers my one-month Java Full Stack internship at Besant Technologies, Chennai, and the project I built there: Employee Management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trained at Besant Technologies in Chennai from 1 to 30 June 2026, from 10 AM to 4 PM. The month followed a plan: Java and OOP first, then the front end, then SQL and database design, and finally the project itself with testing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problems the project answers: scattered data, duplicate or incomplete entries, slow search and reporting, and no control over who can change records. Each one maps to a feature on the next slides: a single database, validation and constraints, search and reports, and role-based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a web application. The browser handles the pages and the first round of validation, Java handles the logic, and SQL stores the data in three tables: employee, department and users. Admins can do everything; viewers can only read and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talks only to the layer next to it. The browser sends HTTP requests to the Java application, the Java application sends SQL queries to the database, and the results travel back the same way until they are shown to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flow diagram splits the system into four processes: authenticate user, manage employees, search employees and generate reports. Authentication reads the users store, management reads and writes the employee store, and reports read both employee and department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split into model, data-access, controller and web pages, following the separation of concerns principle. All SQL sits in the DAO class and uses PreparedStatement, so user input is treated as data and not as part of the command. Validation happens in JavaScript for convenience and again on the server for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employees belong to one department, so department_id in the employee table is a foreign key to the department table. The department name is stored only once. The users table is independent and holds only login information. Constraints such as primary key, unique and not null protect the data even if the application makes a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statements I executed on the employee table. GROUP BY with COUNT gives the department-wise numbers that appear on the report page, and the INNER JOIN shows each employee with the department name instead of the department number. A second INSERT with the same ID was rejected by the primary key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Hiding buttons is not security, because a restricted page can still be requested by typing its address. So the Java application checks the role again on the server. Passwords are stored in encrypted form in the users table, and every user gets only the access the work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wrote test cases for login, form validation, create, read, update, delete, search and special characters. Section 4.7 of the report links every output screen to the requirement or test case it demonstrates. The main difficulties were understanding how browser, Java and database connect, and keeping SQL out of the interface code, which I solved with a separate data-access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login the dashboard shows total, active and inactive employees, the number of departments and a bar chart per department. The employee list shows every record with a coloured status label, plus search, department filter and Edit and Delete buttons for admins.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JavaScript highlights an empty name and an email without the @ symbol and blocks the form until both are fixed. On the right, a viewer who requests the delete address directly gets a 403 Access Denied page and no data is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internship gave me practical skills in Java, HTML, CSS, JavaScript and SQL, and the Employee Management Analysis project showed how these fit together in a real web application. It also improved my analytical thinking and problem-solving, and gives me a base for future projects in full stack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B122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85255"/>
            <a:ext cx="10566400" cy="411262"/>
          </a:xfrm>
          <a:prstGeom prst="rect">
            <a:avLst/>
          </a:prstGeom>
          <a:noFill/>
          <a:ln/>
        </p:spPr>
        <p:txBody>
          <a:bodyPr wrap="square" lIns="0" tIns="0" rIns="0" bIns="0" rtlCol="0" anchor="t"/>
          <a:lstStyle>
            <a:lvl1pPr algn="l" indent="0" marL="0">
              <a:lnSpc>
                <a:spcPct val="115000"/>
              </a:lnSpc>
              <a:buNone/>
              <a:defRPr lang="en-US" sz="3200" dirty="0">
                <a:solidFill>
                  <a:srgbClr val="E6EDF7"/>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01316"/>
            <a:ext cx="10566400" cy="4243884"/>
          </a:xfrm>
          <a:prstGeom prst="rect">
            <a:avLst/>
          </a:prstGeom>
          <a:noFill/>
          <a:ln/>
        </p:spPr>
        <p:txBody>
          <a:bodyPr wrap="square" lIns="0" tIns="0" rIns="0" bIns="0" rtlCol="0" anchor="t"/>
          <a:lstStyle>
            <a:lvl1pPr algn="l" indent="0" marL="0">
              <a:lnSpc>
                <a:spcPct val="140000"/>
              </a:lnSpc>
              <a:buNone/>
              <a:defRPr lang="en-US" sz="1600" dirty="0">
                <a:solidFill>
                  <a:srgbClr val="E6EDF7"/>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122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85255"/>
            <a:ext cx="10566400" cy="411262"/>
          </a:xfrm>
          <a:prstGeom prst="rect">
            <a:avLst/>
          </a:prstGeom>
          <a:noFill/>
          <a:ln/>
        </p:spPr>
        <p:txBody>
          <a:bodyPr wrap="square" lIns="0" tIns="0" rIns="0" bIns="0" rtlCol="0" anchor="t"/>
          <a:lstStyle>
            <a:lvl1pPr algn="l" indent="0" marL="0">
              <a:lnSpc>
                <a:spcPct val="115000"/>
              </a:lnSpc>
              <a:buNone/>
              <a:defRPr lang="en-US" sz="3200" dirty="0">
                <a:solidFill>
                  <a:srgbClr val="E6EDF7"/>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01316"/>
            <a:ext cx="10566400" cy="4243884"/>
          </a:xfrm>
          <a:prstGeom prst="rect">
            <a:avLst/>
          </a:prstGeom>
          <a:noFill/>
          <a:ln/>
        </p:spPr>
        <p:txBody>
          <a:bodyPr wrap="square" lIns="0" tIns="0" rIns="0" bIns="0" rtlCol="0" anchor="t"/>
          <a:lstStyle>
            <a:lvl1pPr algn="l" indent="0" marL="0">
              <a:lnSpc>
                <a:spcPct val="140000"/>
              </a:lnSpc>
              <a:buNone/>
              <a:defRPr lang="en-US" sz="1600" dirty="0">
                <a:solidFill>
                  <a:srgbClr val="E6EDF7"/>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54347"/>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2DD4BF"/>
                </a:solidFill>
                <a:latin typeface="Arial" pitchFamily="34" charset="0"/>
                <a:ea typeface="Arial" pitchFamily="34" charset="-122"/>
                <a:cs typeface="Arial" pitchFamily="34" charset="-120"/>
              </a:rPr>
              <a:t>SUMMER INTERNSHIP REVIEW | JAVA FULL STACK</a:t>
            </a:r>
            <a:endParaRPr lang="en-US" sz="1400" dirty="0"/>
          </a:p>
        </p:txBody>
      </p:sp>
      <p:sp>
        <p:nvSpPr>
          <p:cNvPr id="3" name="Text 1"/>
          <p:cNvSpPr/>
          <p:nvPr>
            <p:ph type="title"/>
          </p:nvPr>
        </p:nvSpPr>
        <p:spPr>
          <a:xfrm>
            <a:off x="812800" y="2481560"/>
            <a:ext cx="10883392" cy="681534"/>
          </a:xfrm>
          <a:prstGeom prst="rect">
            <a:avLst/>
          </a:prstGeom>
          <a:noFill/>
          <a:ln/>
        </p:spPr>
        <p:txBody>
          <a:bodyPr wrap="square" lIns="0" tIns="0" rIns="0" bIns="0" rtlCol="0" anchor="t">
            <a:normAutofit/>
          </a:bodyPr>
          <a:lstStyle/>
          <a:p>
            <a:pPr algn="l" indent="0" marL="0">
              <a:lnSpc>
                <a:spcPts val="5616"/>
              </a:lnSpc>
              <a:buNone/>
            </a:pPr>
            <a:r>
              <a:rPr lang="en-US" sz="5200" b="1" i="0" dirty="0">
                <a:solidFill>
                  <a:srgbClr val="E6EDF7"/>
                </a:solidFill>
                <a:latin typeface="Arial" pitchFamily="34" charset="0"/>
                <a:ea typeface="Arial" pitchFamily="34" charset="-122"/>
                <a:cs typeface="Arial" pitchFamily="34" charset="-120"/>
              </a:rPr>
              <a:t>Employee Management Analysis</a:t>
            </a:r>
            <a:endParaRPr lang="en-US" sz="5200" dirty="0"/>
          </a:p>
        </p:txBody>
      </p:sp>
      <p:sp>
        <p:nvSpPr>
          <p:cNvPr id="4" name="Text 2"/>
          <p:cNvSpPr/>
          <p:nvPr/>
        </p:nvSpPr>
        <p:spPr>
          <a:xfrm>
            <a:off x="812800" y="3340894"/>
            <a:ext cx="10883392" cy="385217"/>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8FA3C0"/>
                </a:solidFill>
                <a:latin typeface="Arial" pitchFamily="34" charset="0"/>
                <a:ea typeface="Arial" pitchFamily="34" charset="-122"/>
                <a:cs typeface="Arial" pitchFamily="34" charset="-120"/>
              </a:rPr>
              <a:t>Using Java Full Stack</a:t>
            </a:r>
            <a:endParaRPr lang="en-US" sz="2200" dirty="0"/>
          </a:p>
        </p:txBody>
      </p:sp>
      <p:sp>
        <p:nvSpPr>
          <p:cNvPr id="5" name="Text 3"/>
          <p:cNvSpPr/>
          <p:nvPr/>
        </p:nvSpPr>
        <p:spPr>
          <a:xfrm>
            <a:off x="812800" y="5140523"/>
            <a:ext cx="10883392" cy="319782"/>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6EDF7"/>
                </a:solidFill>
                <a:latin typeface="Arial" pitchFamily="34" charset="0"/>
                <a:ea typeface="Arial" pitchFamily="34" charset="-122"/>
                <a:cs typeface="Arial" pitchFamily="34" charset="-120"/>
              </a:rPr>
              <a:t>Surjith S | 810023205031</a:t>
            </a:r>
            <a:endParaRPr lang="en-US" sz="1800" dirty="0"/>
          </a:p>
        </p:txBody>
      </p:sp>
      <p:sp>
        <p:nvSpPr>
          <p:cNvPr id="6" name="Text 4"/>
          <p:cNvSpPr/>
          <p:nvPr/>
        </p:nvSpPr>
        <p:spPr>
          <a:xfrm>
            <a:off x="812800" y="5511105"/>
            <a:ext cx="10883392" cy="25434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FA3C0"/>
                </a:solidFill>
                <a:latin typeface="Arial" pitchFamily="34" charset="0"/>
                <a:ea typeface="Arial" pitchFamily="34" charset="-122"/>
                <a:cs typeface="Arial" pitchFamily="34" charset="-120"/>
              </a:rPr>
              <a:t>Department of Information Technology, University College of Engineering, BIT Campus</a:t>
            </a:r>
            <a:endParaRPr lang="en-US" sz="1400" dirty="0"/>
          </a:p>
        </p:txBody>
      </p:sp>
      <p:sp>
        <p:nvSpPr>
          <p:cNvPr id="7" name="Text 5"/>
          <p:cNvSpPr/>
          <p:nvPr/>
        </p:nvSpPr>
        <p:spPr>
          <a:xfrm>
            <a:off x="812800" y="5816253"/>
            <a:ext cx="10883392" cy="25434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FA3C0"/>
                </a:solidFill>
                <a:latin typeface="Arial" pitchFamily="34" charset="0"/>
                <a:ea typeface="Arial" pitchFamily="34" charset="-122"/>
                <a:cs typeface="Arial" pitchFamily="34" charset="-120"/>
              </a:rPr>
              <a:t>Anna University, Tiruchirappalli – 620 024 • IT3711 • Academic Year 2026–2027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216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DD4BF"/>
                </a:solidFill>
                <a:latin typeface="Arial" pitchFamily="34" charset="0"/>
                <a:ea typeface="Arial" pitchFamily="34" charset="-122"/>
                <a:cs typeface="Arial" pitchFamily="34" charset="-120"/>
              </a:rPr>
              <a:t>INTERNSHIP OVERVIEW</a:t>
            </a:r>
            <a:endParaRPr lang="en-US" sz="1200" dirty="0"/>
          </a:p>
        </p:txBody>
      </p:sp>
      <p:sp>
        <p:nvSpPr>
          <p:cNvPr id="3" name="Text 1"/>
          <p:cNvSpPr/>
          <p:nvPr>
            <p:ph type="title"/>
          </p:nvPr>
        </p:nvSpPr>
        <p:spPr>
          <a:xfrm>
            <a:off x="812800" y="1085255"/>
            <a:ext cx="10883392" cy="43666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6EDF7"/>
                </a:solidFill>
                <a:latin typeface="Arial" pitchFamily="34" charset="0"/>
                <a:ea typeface="Arial" pitchFamily="34" charset="-122"/>
                <a:cs typeface="Arial" pitchFamily="34" charset="-120"/>
              </a:rPr>
              <a:t>One month of hands-on Java Full Stack training</a:t>
            </a:r>
            <a:endParaRPr lang="en-US" sz="3200" dirty="0"/>
          </a:p>
        </p:txBody>
      </p:sp>
      <p:sp>
        <p:nvSpPr>
          <p:cNvPr id="4" name="Shape 2"/>
          <p:cNvSpPr/>
          <p:nvPr/>
        </p:nvSpPr>
        <p:spPr>
          <a:xfrm>
            <a:off x="815975" y="1855291"/>
            <a:ext cx="3380284" cy="2427982"/>
          </a:xfrm>
          <a:prstGeom prst="roundRect">
            <a:avLst>
              <a:gd name="adj" fmla="val 4054"/>
            </a:avLst>
          </a:prstGeom>
          <a:solidFill>
            <a:srgbClr val="131C30"/>
          </a:solidFill>
          <a:ln w="6350">
            <a:solidFill>
              <a:srgbClr val="25324D"/>
            </a:solidFill>
            <a:prstDash val="solid"/>
          </a:ln>
        </p:spPr>
      </p:sp>
      <p:sp>
        <p:nvSpPr>
          <p:cNvPr id="5" name="Text 3"/>
          <p:cNvSpPr/>
          <p:nvPr/>
        </p:nvSpPr>
        <p:spPr>
          <a:xfrm>
            <a:off x="1073150" y="2112466"/>
            <a:ext cx="2951912" cy="30579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7"/>
                </a:solidFill>
                <a:latin typeface="Arial" pitchFamily="34" charset="0"/>
                <a:ea typeface="Arial" pitchFamily="34" charset="-122"/>
                <a:cs typeface="Arial" pitchFamily="34" charset="-120"/>
              </a:rPr>
              <a:t>Where and when</a:t>
            </a:r>
            <a:endParaRPr lang="en-US" sz="2000" dirty="0"/>
          </a:p>
        </p:txBody>
      </p:sp>
      <p:sp>
        <p:nvSpPr>
          <p:cNvPr id="6" name="Text 4"/>
          <p:cNvSpPr/>
          <p:nvPr/>
        </p:nvSpPr>
        <p:spPr>
          <a:xfrm>
            <a:off x="1073150" y="2494459"/>
            <a:ext cx="2951912" cy="270768"/>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6EDF7"/>
                </a:solidFill>
                <a:latin typeface="Arial" pitchFamily="34" charset="0"/>
                <a:ea typeface="Arial" pitchFamily="34" charset="-122"/>
                <a:cs typeface="Arial" pitchFamily="34" charset="-120"/>
              </a:rPr>
              <a:t>Besant Technologies</a:t>
            </a:r>
            <a:r>
              <a:rPr lang="en-US" sz="1500" dirty="0">
                <a:solidFill>
                  <a:srgbClr val="E6EDF7"/>
                </a:solidFill>
                <a:latin typeface="Arial" pitchFamily="34" charset="0"/>
                <a:ea typeface="Arial" pitchFamily="34" charset="-122"/>
                <a:cs typeface="Arial" pitchFamily="34" charset="-120"/>
              </a:rPr>
              <a:t>, Chennai</a:t>
            </a:r>
            <a:endParaRPr lang="en-US" sz="1500" dirty="0"/>
          </a:p>
        </p:txBody>
      </p:sp>
      <p:sp>
        <p:nvSpPr>
          <p:cNvPr id="7" name="Text 5"/>
          <p:cNvSpPr/>
          <p:nvPr/>
        </p:nvSpPr>
        <p:spPr>
          <a:xfrm>
            <a:off x="1073150" y="2841427"/>
            <a:ext cx="2951912" cy="270768"/>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DF7"/>
                </a:solidFill>
                <a:latin typeface="Arial" pitchFamily="34" charset="0"/>
                <a:ea typeface="Arial" pitchFamily="34" charset="-122"/>
                <a:cs typeface="Arial" pitchFamily="34" charset="-120"/>
              </a:rPr>
              <a:t>01 – 30 June 2026</a:t>
            </a:r>
            <a:endParaRPr lang="en-US" sz="1500" dirty="0"/>
          </a:p>
        </p:txBody>
      </p:sp>
      <p:sp>
        <p:nvSpPr>
          <p:cNvPr id="8" name="Text 6"/>
          <p:cNvSpPr/>
          <p:nvPr/>
        </p:nvSpPr>
        <p:spPr>
          <a:xfrm>
            <a:off x="1073150" y="3188395"/>
            <a:ext cx="2951912" cy="270768"/>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DF7"/>
                </a:solidFill>
                <a:latin typeface="Arial" pitchFamily="34" charset="0"/>
                <a:ea typeface="Arial" pitchFamily="34" charset="-122"/>
                <a:cs typeface="Arial" pitchFamily="34" charset="-120"/>
              </a:rPr>
              <a:t>10:00 AM to 04:00 PM daily</a:t>
            </a:r>
            <a:endParaRPr lang="en-US" sz="1500" dirty="0"/>
          </a:p>
        </p:txBody>
      </p:sp>
      <p:sp>
        <p:nvSpPr>
          <p:cNvPr id="9" name="Text 7"/>
          <p:cNvSpPr/>
          <p:nvPr/>
        </p:nvSpPr>
        <p:spPr>
          <a:xfrm>
            <a:off x="1073150" y="3535363"/>
            <a:ext cx="3119934" cy="270768"/>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DF7"/>
                </a:solidFill>
                <a:latin typeface="Arial" pitchFamily="34" charset="0"/>
                <a:ea typeface="Arial" pitchFamily="34" charset="-122"/>
                <a:cs typeface="Arial" pitchFamily="34" charset="-120"/>
              </a:rPr>
              <a:t>Domain: Java Full Stack Development</a:t>
            </a:r>
            <a:endParaRPr lang="en-US" sz="1500" dirty="0"/>
          </a:p>
        </p:txBody>
      </p:sp>
      <p:sp>
        <p:nvSpPr>
          <p:cNvPr id="10" name="Shape 8"/>
          <p:cNvSpPr/>
          <p:nvPr/>
        </p:nvSpPr>
        <p:spPr>
          <a:xfrm>
            <a:off x="4405809" y="1855291"/>
            <a:ext cx="3380333" cy="2427982"/>
          </a:xfrm>
          <a:prstGeom prst="roundRect">
            <a:avLst>
              <a:gd name="adj" fmla="val 4054"/>
            </a:avLst>
          </a:prstGeom>
          <a:solidFill>
            <a:srgbClr val="131C30"/>
          </a:solidFill>
          <a:ln w="6350">
            <a:solidFill>
              <a:srgbClr val="25324D"/>
            </a:solidFill>
            <a:prstDash val="solid"/>
          </a:ln>
        </p:spPr>
      </p:sp>
      <p:sp>
        <p:nvSpPr>
          <p:cNvPr id="11" name="Text 9"/>
          <p:cNvSpPr/>
          <p:nvPr/>
        </p:nvSpPr>
        <p:spPr>
          <a:xfrm>
            <a:off x="4662984" y="2112466"/>
            <a:ext cx="2951963" cy="30579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7"/>
                </a:solidFill>
                <a:latin typeface="Arial" pitchFamily="34" charset="0"/>
                <a:ea typeface="Arial" pitchFamily="34" charset="-122"/>
                <a:cs typeface="Arial" pitchFamily="34" charset="-120"/>
              </a:rPr>
              <a:t>Technologies used</a:t>
            </a:r>
            <a:endParaRPr lang="en-US" sz="2000" dirty="0"/>
          </a:p>
        </p:txBody>
      </p:sp>
      <p:sp>
        <p:nvSpPr>
          <p:cNvPr id="12" name="Text 10"/>
          <p:cNvSpPr/>
          <p:nvPr/>
        </p:nvSpPr>
        <p:spPr>
          <a:xfrm>
            <a:off x="4662984" y="2494459"/>
            <a:ext cx="2951963" cy="270768"/>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6EDF7"/>
                </a:solidFill>
                <a:latin typeface="Arial" pitchFamily="34" charset="0"/>
                <a:ea typeface="Arial" pitchFamily="34" charset="-122"/>
                <a:cs typeface="Arial" pitchFamily="34" charset="-120"/>
              </a:rPr>
              <a:t>Java</a:t>
            </a:r>
            <a:r>
              <a:rPr lang="en-US" sz="1500" dirty="0">
                <a:solidFill>
                  <a:srgbClr val="E6EDF7"/>
                </a:solidFill>
                <a:latin typeface="Arial" pitchFamily="34" charset="0"/>
                <a:ea typeface="Arial" pitchFamily="34" charset="-122"/>
                <a:cs typeface="Arial" pitchFamily="34" charset="-120"/>
              </a:rPr>
              <a:t>: application logic and data access</a:t>
            </a:r>
            <a:endParaRPr lang="en-US" sz="1500" dirty="0"/>
          </a:p>
        </p:txBody>
      </p:sp>
      <p:sp>
        <p:nvSpPr>
          <p:cNvPr id="13" name="Text 11"/>
          <p:cNvSpPr/>
          <p:nvPr/>
        </p:nvSpPr>
        <p:spPr>
          <a:xfrm>
            <a:off x="4662984" y="2841427"/>
            <a:ext cx="2951963" cy="516136"/>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6EDF7"/>
                </a:solidFill>
                <a:latin typeface="Arial" pitchFamily="34" charset="0"/>
                <a:ea typeface="Arial" pitchFamily="34" charset="-122"/>
                <a:cs typeface="Arial" pitchFamily="34" charset="-120"/>
              </a:rPr>
              <a:t>HTML, CSS, JavaScript</a:t>
            </a:r>
            <a:r>
              <a:rPr lang="en-US" sz="1500" dirty="0">
                <a:solidFill>
                  <a:srgbClr val="E6EDF7"/>
                </a:solidFill>
                <a:latin typeface="Arial" pitchFamily="34" charset="0"/>
                <a:ea typeface="Arial" pitchFamily="34" charset="-122"/>
                <a:cs typeface="Arial" pitchFamily="34" charset="-120"/>
              </a:rPr>
              <a:t>: pages and validation</a:t>
            </a:r>
            <a:endParaRPr lang="en-US" sz="1500" dirty="0"/>
          </a:p>
        </p:txBody>
      </p:sp>
      <p:sp>
        <p:nvSpPr>
          <p:cNvPr id="14" name="Text 12"/>
          <p:cNvSpPr/>
          <p:nvPr/>
        </p:nvSpPr>
        <p:spPr>
          <a:xfrm>
            <a:off x="4662984" y="3433763"/>
            <a:ext cx="2951963" cy="270768"/>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6EDF7"/>
                </a:solidFill>
                <a:latin typeface="Arial" pitchFamily="34" charset="0"/>
                <a:ea typeface="Arial" pitchFamily="34" charset="-122"/>
                <a:cs typeface="Arial" pitchFamily="34" charset="-120"/>
              </a:rPr>
              <a:t>SQL</a:t>
            </a:r>
            <a:r>
              <a:rPr lang="en-US" sz="1500" dirty="0">
                <a:solidFill>
                  <a:srgbClr val="E6EDF7"/>
                </a:solidFill>
                <a:latin typeface="Arial" pitchFamily="34" charset="0"/>
                <a:ea typeface="Arial" pitchFamily="34" charset="-122"/>
                <a:cs typeface="Arial" pitchFamily="34" charset="-120"/>
              </a:rPr>
              <a:t>: tables, queries and reports</a:t>
            </a:r>
            <a:endParaRPr lang="en-US" sz="1500" dirty="0"/>
          </a:p>
        </p:txBody>
      </p:sp>
      <p:sp>
        <p:nvSpPr>
          <p:cNvPr id="15" name="Shape 13"/>
          <p:cNvSpPr/>
          <p:nvPr/>
        </p:nvSpPr>
        <p:spPr>
          <a:xfrm>
            <a:off x="7995692" y="1855291"/>
            <a:ext cx="3380333" cy="2427982"/>
          </a:xfrm>
          <a:prstGeom prst="roundRect">
            <a:avLst>
              <a:gd name="adj" fmla="val 4054"/>
            </a:avLst>
          </a:prstGeom>
          <a:solidFill>
            <a:srgbClr val="131C30"/>
          </a:solidFill>
          <a:ln w="6350">
            <a:solidFill>
              <a:srgbClr val="25324D"/>
            </a:solidFill>
            <a:prstDash val="solid"/>
          </a:ln>
        </p:spPr>
      </p:sp>
      <p:sp>
        <p:nvSpPr>
          <p:cNvPr id="16" name="Text 14"/>
          <p:cNvSpPr/>
          <p:nvPr/>
        </p:nvSpPr>
        <p:spPr>
          <a:xfrm>
            <a:off x="8252867" y="2112466"/>
            <a:ext cx="2951963" cy="30579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7"/>
                </a:solidFill>
                <a:latin typeface="Arial" pitchFamily="34" charset="0"/>
                <a:ea typeface="Arial" pitchFamily="34" charset="-122"/>
                <a:cs typeface="Arial" pitchFamily="34" charset="-120"/>
              </a:rPr>
              <a:t>Four-week plan</a:t>
            </a:r>
            <a:endParaRPr lang="en-US" sz="2000" dirty="0"/>
          </a:p>
        </p:txBody>
      </p:sp>
      <p:sp>
        <p:nvSpPr>
          <p:cNvPr id="17" name="Text 15"/>
          <p:cNvSpPr/>
          <p:nvPr/>
        </p:nvSpPr>
        <p:spPr>
          <a:xfrm>
            <a:off x="8252867" y="2494459"/>
            <a:ext cx="2951963" cy="270768"/>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6EDF7"/>
                </a:solidFill>
                <a:latin typeface="Arial" pitchFamily="34" charset="0"/>
                <a:ea typeface="Arial" pitchFamily="34" charset="-122"/>
                <a:cs typeface="Arial" pitchFamily="34" charset="-120"/>
              </a:rPr>
              <a:t>Week 1</a:t>
            </a:r>
            <a:r>
              <a:rPr lang="en-US" sz="1500" dirty="0">
                <a:solidFill>
                  <a:srgbClr val="E6EDF7"/>
                </a:solidFill>
                <a:latin typeface="Arial" pitchFamily="34" charset="0"/>
                <a:ea typeface="Arial" pitchFamily="34" charset="-122"/>
                <a:cs typeface="Arial" pitchFamily="34" charset="-120"/>
              </a:rPr>
              <a:t>: Java basics and OOP</a:t>
            </a:r>
            <a:endParaRPr lang="en-US" sz="1500" dirty="0"/>
          </a:p>
        </p:txBody>
      </p:sp>
      <p:sp>
        <p:nvSpPr>
          <p:cNvPr id="18" name="Text 16"/>
          <p:cNvSpPr/>
          <p:nvPr/>
        </p:nvSpPr>
        <p:spPr>
          <a:xfrm>
            <a:off x="8252867" y="2841427"/>
            <a:ext cx="2951963" cy="270768"/>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6EDF7"/>
                </a:solidFill>
                <a:latin typeface="Arial" pitchFamily="34" charset="0"/>
                <a:ea typeface="Arial" pitchFamily="34" charset="-122"/>
                <a:cs typeface="Arial" pitchFamily="34" charset="-120"/>
              </a:rPr>
              <a:t>Week 2</a:t>
            </a:r>
            <a:r>
              <a:rPr lang="en-US" sz="1500" dirty="0">
                <a:solidFill>
                  <a:srgbClr val="E6EDF7"/>
                </a:solidFill>
                <a:latin typeface="Arial" pitchFamily="34" charset="0"/>
                <a:ea typeface="Arial" pitchFamily="34" charset="-122"/>
                <a:cs typeface="Arial" pitchFamily="34" charset="-120"/>
              </a:rPr>
              <a:t>: HTML, CSS, JavaScript</a:t>
            </a:r>
            <a:endParaRPr lang="en-US" sz="1500" dirty="0"/>
          </a:p>
        </p:txBody>
      </p:sp>
      <p:sp>
        <p:nvSpPr>
          <p:cNvPr id="19" name="Text 17"/>
          <p:cNvSpPr/>
          <p:nvPr/>
        </p:nvSpPr>
        <p:spPr>
          <a:xfrm>
            <a:off x="8252867" y="3188395"/>
            <a:ext cx="2951963" cy="270768"/>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6EDF7"/>
                </a:solidFill>
                <a:latin typeface="Arial" pitchFamily="34" charset="0"/>
                <a:ea typeface="Arial" pitchFamily="34" charset="-122"/>
                <a:cs typeface="Arial" pitchFamily="34" charset="-120"/>
              </a:rPr>
              <a:t>Week 3</a:t>
            </a:r>
            <a:r>
              <a:rPr lang="en-US" sz="1500" dirty="0">
                <a:solidFill>
                  <a:srgbClr val="E6EDF7"/>
                </a:solidFill>
                <a:latin typeface="Arial" pitchFamily="34" charset="0"/>
                <a:ea typeface="Arial" pitchFamily="34" charset="-122"/>
                <a:cs typeface="Arial" pitchFamily="34" charset="-120"/>
              </a:rPr>
              <a:t>: SQL and database design</a:t>
            </a:r>
            <a:endParaRPr lang="en-US" sz="1500" dirty="0"/>
          </a:p>
        </p:txBody>
      </p:sp>
      <p:sp>
        <p:nvSpPr>
          <p:cNvPr id="20" name="Text 18"/>
          <p:cNvSpPr/>
          <p:nvPr/>
        </p:nvSpPr>
        <p:spPr>
          <a:xfrm>
            <a:off x="8252867" y="3535363"/>
            <a:ext cx="2951963" cy="516136"/>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6EDF7"/>
                </a:solidFill>
                <a:latin typeface="Arial" pitchFamily="34" charset="0"/>
                <a:ea typeface="Arial" pitchFamily="34" charset="-122"/>
                <a:cs typeface="Arial" pitchFamily="34" charset="-120"/>
              </a:rPr>
              <a:t>Week 4</a:t>
            </a:r>
            <a:r>
              <a:rPr lang="en-US" sz="1500" dirty="0">
                <a:solidFill>
                  <a:srgbClr val="E6EDF7"/>
                </a:solidFill>
                <a:latin typeface="Arial" pitchFamily="34" charset="0"/>
                <a:ea typeface="Arial" pitchFamily="34" charset="-122"/>
                <a:cs typeface="Arial" pitchFamily="34" charset="-120"/>
              </a:rPr>
              <a:t>: Project build, testing, documentation</a:t>
            </a:r>
            <a:endParaRPr lang="en-US" sz="1500" dirty="0"/>
          </a:p>
        </p:txBody>
      </p:sp>
      <p:sp>
        <p:nvSpPr>
          <p:cNvPr id="21" name="Text 19"/>
          <p:cNvSpPr/>
          <p:nvPr/>
        </p:nvSpPr>
        <p:spPr>
          <a:xfrm>
            <a:off x="812800" y="6255345"/>
            <a:ext cx="5886450"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C0"/>
                </a:solidFill>
                <a:latin typeface="Arial" pitchFamily="34" charset="0"/>
                <a:ea typeface="Arial" pitchFamily="34" charset="-122"/>
                <a:cs typeface="Arial" pitchFamily="34" charset="-120"/>
              </a:rPr>
              <a:t>Employee Management Analysis</a:t>
            </a:r>
            <a:endParaRPr lang="en-US" sz="1200" dirty="0"/>
          </a:p>
        </p:txBody>
      </p:sp>
      <p:sp>
        <p:nvSpPr>
          <p:cNvPr id="22" name="Text 20"/>
          <p:cNvSpPr/>
          <p:nvPr/>
        </p:nvSpPr>
        <p:spPr>
          <a:xfrm>
            <a:off x="9417050" y="6255345"/>
            <a:ext cx="1962150" cy="2216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3C0"/>
                </a:solidFill>
                <a:latin typeface="Arial" pitchFamily="34" charset="0"/>
                <a:ea typeface="Arial" pitchFamily="34" charset="-122"/>
                <a:cs typeface="Arial" pitchFamily="34" charset="-120"/>
              </a:rPr>
              <a:t>02 / 15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216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DD4BF"/>
                </a:solidFill>
                <a:latin typeface="Arial" pitchFamily="34" charset="0"/>
                <a:ea typeface="Arial" pitchFamily="34" charset="-122"/>
                <a:cs typeface="Arial" pitchFamily="34" charset="-120"/>
              </a:rPr>
              <a:t>SYSTEM STUDY | PROBLEM IDENTIFICATION</a:t>
            </a:r>
            <a:endParaRPr lang="en-US" sz="1200" dirty="0"/>
          </a:p>
        </p:txBody>
      </p:sp>
      <p:sp>
        <p:nvSpPr>
          <p:cNvPr id="3" name="Text 1"/>
          <p:cNvSpPr/>
          <p:nvPr>
            <p:ph type="title"/>
          </p:nvPr>
        </p:nvSpPr>
        <p:spPr>
          <a:xfrm>
            <a:off x="812800" y="1085255"/>
            <a:ext cx="10883392" cy="43666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6EDF7"/>
                </a:solidFill>
                <a:latin typeface="Arial" pitchFamily="34" charset="0"/>
                <a:ea typeface="Arial" pitchFamily="34" charset="-122"/>
                <a:cs typeface="Arial" pitchFamily="34" charset="-120"/>
              </a:rPr>
              <a:t>Employee records need structure, checks and control</a:t>
            </a:r>
            <a:endParaRPr lang="en-US" sz="3200" dirty="0"/>
          </a:p>
        </p:txBody>
      </p:sp>
      <p:sp>
        <p:nvSpPr>
          <p:cNvPr id="4" name="Shape 2"/>
          <p:cNvSpPr/>
          <p:nvPr/>
        </p:nvSpPr>
        <p:spPr>
          <a:xfrm>
            <a:off x="815975" y="1855291"/>
            <a:ext cx="5175250" cy="1361678"/>
          </a:xfrm>
          <a:prstGeom prst="roundRect">
            <a:avLst>
              <a:gd name="adj" fmla="val 7228"/>
            </a:avLst>
          </a:prstGeom>
          <a:solidFill>
            <a:srgbClr val="131C30"/>
          </a:solidFill>
          <a:ln w="6350">
            <a:solidFill>
              <a:srgbClr val="25324D"/>
            </a:solidFill>
            <a:prstDash val="solid"/>
          </a:ln>
        </p:spPr>
      </p:sp>
      <p:sp>
        <p:nvSpPr>
          <p:cNvPr id="5" name="Text 3"/>
          <p:cNvSpPr/>
          <p:nvPr/>
        </p:nvSpPr>
        <p:spPr>
          <a:xfrm>
            <a:off x="1073150" y="2112466"/>
            <a:ext cx="4800727" cy="30579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7"/>
                </a:solidFill>
                <a:latin typeface="Arial" pitchFamily="34" charset="0"/>
                <a:ea typeface="Arial" pitchFamily="34" charset="-122"/>
                <a:cs typeface="Arial" pitchFamily="34" charset="-120"/>
              </a:rPr>
              <a:t>Scattered data</a:t>
            </a:r>
            <a:endParaRPr lang="en-US" sz="2000" dirty="0"/>
          </a:p>
        </p:txBody>
      </p:sp>
      <p:sp>
        <p:nvSpPr>
          <p:cNvPr id="6" name="Text 4"/>
          <p:cNvSpPr/>
          <p:nvPr/>
        </p:nvSpPr>
        <p:spPr>
          <a:xfrm>
            <a:off x="1073150" y="2469059"/>
            <a:ext cx="4800727" cy="516136"/>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DF7"/>
                </a:solidFill>
                <a:latin typeface="Arial" pitchFamily="34" charset="0"/>
                <a:ea typeface="Arial" pitchFamily="34" charset="-122"/>
                <a:cs typeface="Arial" pitchFamily="34" charset="-120"/>
              </a:rPr>
              <a:t>Employee details are kept in separate files, so one record can exist in several versions.</a:t>
            </a:r>
            <a:endParaRPr lang="en-US" sz="1500" dirty="0"/>
          </a:p>
        </p:txBody>
      </p:sp>
      <p:sp>
        <p:nvSpPr>
          <p:cNvPr id="7" name="Shape 5"/>
          <p:cNvSpPr/>
          <p:nvPr/>
        </p:nvSpPr>
        <p:spPr>
          <a:xfrm>
            <a:off x="6200775" y="1855291"/>
            <a:ext cx="5175250" cy="1361678"/>
          </a:xfrm>
          <a:prstGeom prst="roundRect">
            <a:avLst>
              <a:gd name="adj" fmla="val 7228"/>
            </a:avLst>
          </a:prstGeom>
          <a:solidFill>
            <a:srgbClr val="131C30"/>
          </a:solidFill>
          <a:ln w="6350">
            <a:solidFill>
              <a:srgbClr val="25324D"/>
            </a:solidFill>
            <a:prstDash val="solid"/>
          </a:ln>
        </p:spPr>
      </p:sp>
      <p:sp>
        <p:nvSpPr>
          <p:cNvPr id="8" name="Text 6"/>
          <p:cNvSpPr/>
          <p:nvPr/>
        </p:nvSpPr>
        <p:spPr>
          <a:xfrm>
            <a:off x="6457950" y="2112466"/>
            <a:ext cx="4800727" cy="30579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7"/>
                </a:solidFill>
                <a:latin typeface="Arial" pitchFamily="34" charset="0"/>
                <a:ea typeface="Arial" pitchFamily="34" charset="-122"/>
                <a:cs typeface="Arial" pitchFamily="34" charset="-120"/>
              </a:rPr>
              <a:t>Duplicate and incomplete entries</a:t>
            </a:r>
            <a:endParaRPr lang="en-US" sz="2000" dirty="0"/>
          </a:p>
        </p:txBody>
      </p:sp>
      <p:sp>
        <p:nvSpPr>
          <p:cNvPr id="9" name="Text 7"/>
          <p:cNvSpPr/>
          <p:nvPr/>
        </p:nvSpPr>
        <p:spPr>
          <a:xfrm>
            <a:off x="6457950" y="2469059"/>
            <a:ext cx="4800727" cy="516136"/>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DF7"/>
                </a:solidFill>
                <a:latin typeface="Arial" pitchFamily="34" charset="0"/>
                <a:ea typeface="Arial" pitchFamily="34" charset="-122"/>
                <a:cs typeface="Arial" pitchFamily="34" charset="-120"/>
              </a:rPr>
              <a:t>Without mandatory fields and unique keys, repeated IDs and missing values slip in.</a:t>
            </a:r>
            <a:endParaRPr lang="en-US" sz="1500" dirty="0"/>
          </a:p>
        </p:txBody>
      </p:sp>
      <p:sp>
        <p:nvSpPr>
          <p:cNvPr id="10" name="Shape 8"/>
          <p:cNvSpPr/>
          <p:nvPr/>
        </p:nvSpPr>
        <p:spPr>
          <a:xfrm>
            <a:off x="815975" y="3426520"/>
            <a:ext cx="5175250" cy="1361678"/>
          </a:xfrm>
          <a:prstGeom prst="roundRect">
            <a:avLst>
              <a:gd name="adj" fmla="val 7228"/>
            </a:avLst>
          </a:prstGeom>
          <a:solidFill>
            <a:srgbClr val="131C30"/>
          </a:solidFill>
          <a:ln w="6350">
            <a:solidFill>
              <a:srgbClr val="25324D"/>
            </a:solidFill>
            <a:prstDash val="solid"/>
          </a:ln>
        </p:spPr>
      </p:sp>
      <p:sp>
        <p:nvSpPr>
          <p:cNvPr id="11" name="Text 9"/>
          <p:cNvSpPr/>
          <p:nvPr/>
        </p:nvSpPr>
        <p:spPr>
          <a:xfrm>
            <a:off x="1073150" y="3683695"/>
            <a:ext cx="4800727" cy="30579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7"/>
                </a:solidFill>
                <a:latin typeface="Arial" pitchFamily="34" charset="0"/>
                <a:ea typeface="Arial" pitchFamily="34" charset="-122"/>
                <a:cs typeface="Arial" pitchFamily="34" charset="-120"/>
              </a:rPr>
              <a:t>Slow search and reports</a:t>
            </a:r>
            <a:endParaRPr lang="en-US" sz="2000" dirty="0"/>
          </a:p>
        </p:txBody>
      </p:sp>
      <p:sp>
        <p:nvSpPr>
          <p:cNvPr id="12" name="Text 10"/>
          <p:cNvSpPr/>
          <p:nvPr/>
        </p:nvSpPr>
        <p:spPr>
          <a:xfrm>
            <a:off x="1073150" y="4040287"/>
            <a:ext cx="4800727" cy="516136"/>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DF7"/>
                </a:solidFill>
                <a:latin typeface="Arial" pitchFamily="34" charset="0"/>
                <a:ea typeface="Arial" pitchFamily="34" charset="-122"/>
                <a:cs typeface="Arial" pitchFamily="34" charset="-120"/>
              </a:rPr>
              <a:t>Finding one employee or counting people per department means going through every file.</a:t>
            </a:r>
            <a:endParaRPr lang="en-US" sz="1500" dirty="0"/>
          </a:p>
        </p:txBody>
      </p:sp>
      <p:sp>
        <p:nvSpPr>
          <p:cNvPr id="13" name="Shape 11"/>
          <p:cNvSpPr/>
          <p:nvPr/>
        </p:nvSpPr>
        <p:spPr>
          <a:xfrm>
            <a:off x="6200775" y="3426520"/>
            <a:ext cx="5175250" cy="1361678"/>
          </a:xfrm>
          <a:prstGeom prst="roundRect">
            <a:avLst>
              <a:gd name="adj" fmla="val 7228"/>
            </a:avLst>
          </a:prstGeom>
          <a:solidFill>
            <a:srgbClr val="131C30"/>
          </a:solidFill>
          <a:ln w="6350">
            <a:solidFill>
              <a:srgbClr val="25324D"/>
            </a:solidFill>
            <a:prstDash val="solid"/>
          </a:ln>
        </p:spPr>
      </p:sp>
      <p:sp>
        <p:nvSpPr>
          <p:cNvPr id="14" name="Text 12"/>
          <p:cNvSpPr/>
          <p:nvPr/>
        </p:nvSpPr>
        <p:spPr>
          <a:xfrm>
            <a:off x="6457950" y="3683695"/>
            <a:ext cx="4800727" cy="30579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7"/>
                </a:solidFill>
                <a:latin typeface="Arial" pitchFamily="34" charset="0"/>
                <a:ea typeface="Arial" pitchFamily="34" charset="-122"/>
                <a:cs typeface="Arial" pitchFamily="34" charset="-120"/>
              </a:rPr>
              <a:t>No access control</a:t>
            </a:r>
            <a:endParaRPr lang="en-US" sz="2000" dirty="0"/>
          </a:p>
        </p:txBody>
      </p:sp>
      <p:sp>
        <p:nvSpPr>
          <p:cNvPr id="15" name="Text 13"/>
          <p:cNvSpPr/>
          <p:nvPr/>
        </p:nvSpPr>
        <p:spPr>
          <a:xfrm>
            <a:off x="6457950" y="4040287"/>
            <a:ext cx="4800727" cy="516136"/>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DF7"/>
                </a:solidFill>
                <a:latin typeface="Arial" pitchFamily="34" charset="0"/>
                <a:ea typeface="Arial" pitchFamily="34" charset="-122"/>
                <a:cs typeface="Arial" pitchFamily="34" charset="-120"/>
              </a:rPr>
              <a:t>Anyone with the data can change it; there is no difference between who may view and who may edit.</a:t>
            </a:r>
            <a:endParaRPr lang="en-US" sz="1500" dirty="0"/>
          </a:p>
        </p:txBody>
      </p:sp>
      <p:sp>
        <p:nvSpPr>
          <p:cNvPr id="16" name="Text 14"/>
          <p:cNvSpPr/>
          <p:nvPr/>
        </p:nvSpPr>
        <p:spPr>
          <a:xfrm>
            <a:off x="812800" y="6255345"/>
            <a:ext cx="5886450"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C0"/>
                </a:solidFill>
                <a:latin typeface="Arial" pitchFamily="34" charset="0"/>
                <a:ea typeface="Arial" pitchFamily="34" charset="-122"/>
                <a:cs typeface="Arial" pitchFamily="34" charset="-120"/>
              </a:rPr>
              <a:t>Employee Management Analysis</a:t>
            </a:r>
            <a:endParaRPr lang="en-US" sz="1200" dirty="0"/>
          </a:p>
        </p:txBody>
      </p:sp>
      <p:sp>
        <p:nvSpPr>
          <p:cNvPr id="17" name="Text 15"/>
          <p:cNvSpPr/>
          <p:nvPr/>
        </p:nvSpPr>
        <p:spPr>
          <a:xfrm>
            <a:off x="9417050" y="6255345"/>
            <a:ext cx="1962150" cy="2216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3C0"/>
                </a:solidFill>
                <a:latin typeface="Arial" pitchFamily="34" charset="0"/>
                <a:ea typeface="Arial" pitchFamily="34" charset="-122"/>
                <a:cs typeface="Arial" pitchFamily="34" charset="-120"/>
              </a:rPr>
              <a:t>03 / 15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216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DD4BF"/>
                </a:solidFill>
                <a:latin typeface="Arial" pitchFamily="34" charset="0"/>
                <a:ea typeface="Arial" pitchFamily="34" charset="-122"/>
                <a:cs typeface="Arial" pitchFamily="34" charset="-120"/>
              </a:rPr>
              <a:t>PROPOSED SOLUTION AND DATA</a:t>
            </a:r>
            <a:endParaRPr lang="en-US" sz="1200" dirty="0"/>
          </a:p>
        </p:txBody>
      </p:sp>
      <p:sp>
        <p:nvSpPr>
          <p:cNvPr id="3" name="Text 1"/>
          <p:cNvSpPr/>
          <p:nvPr>
            <p:ph type="title"/>
          </p:nvPr>
        </p:nvSpPr>
        <p:spPr>
          <a:xfrm>
            <a:off x="812800" y="1085255"/>
            <a:ext cx="10883392" cy="43666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6EDF7"/>
                </a:solidFill>
                <a:latin typeface="Arial" pitchFamily="34" charset="0"/>
                <a:ea typeface="Arial" pitchFamily="34" charset="-122"/>
                <a:cs typeface="Arial" pitchFamily="34" charset="-120"/>
              </a:rPr>
              <a:t>A web application with a relational database</a:t>
            </a:r>
            <a:endParaRPr lang="en-US" sz="3200" dirty="0"/>
          </a:p>
        </p:txBody>
      </p:sp>
      <p:sp>
        <p:nvSpPr>
          <p:cNvPr id="4" name="Shape 2"/>
          <p:cNvSpPr/>
          <p:nvPr/>
        </p:nvSpPr>
        <p:spPr>
          <a:xfrm>
            <a:off x="815975" y="1855291"/>
            <a:ext cx="5175250" cy="2393950"/>
          </a:xfrm>
          <a:prstGeom prst="roundRect">
            <a:avLst>
              <a:gd name="adj" fmla="val 4111"/>
            </a:avLst>
          </a:prstGeom>
          <a:solidFill>
            <a:srgbClr val="131C30"/>
          </a:solidFill>
          <a:ln w="6350">
            <a:solidFill>
              <a:srgbClr val="25324D"/>
            </a:solidFill>
            <a:prstDash val="solid"/>
          </a:ln>
        </p:spPr>
      </p:sp>
      <p:sp>
        <p:nvSpPr>
          <p:cNvPr id="5" name="Text 3"/>
          <p:cNvSpPr/>
          <p:nvPr/>
        </p:nvSpPr>
        <p:spPr>
          <a:xfrm>
            <a:off x="1073150" y="2112466"/>
            <a:ext cx="4800727" cy="30579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7"/>
                </a:solidFill>
                <a:latin typeface="Arial" pitchFamily="34" charset="0"/>
                <a:ea typeface="Arial" pitchFamily="34" charset="-122"/>
                <a:cs typeface="Arial" pitchFamily="34" charset="-120"/>
              </a:rPr>
              <a:t>Solution</a:t>
            </a:r>
            <a:endParaRPr lang="en-US" sz="2000" dirty="0"/>
          </a:p>
        </p:txBody>
      </p:sp>
      <p:sp>
        <p:nvSpPr>
          <p:cNvPr id="6" name="Text 4"/>
          <p:cNvSpPr/>
          <p:nvPr/>
        </p:nvSpPr>
        <p:spPr>
          <a:xfrm>
            <a:off x="1163320" y="2519859"/>
            <a:ext cx="4702937" cy="1497608"/>
          </a:xfrm>
          <a:prstGeom prst="rect">
            <a:avLst/>
          </a:prstGeom>
          <a:noFill/>
          <a:ln/>
        </p:spPr>
        <p:txBody>
          <a:bodyPr wrap="square" lIns="0" tIns="0" rIns="0" bIns="0" rtlCol="0" anchor="t">
            <a:normAutofit/>
          </a:bodyPr>
          <a:lstStyle/>
          <a:p>
            <a:pPr algn="l" marL="163830" indent="-163830">
              <a:lnSpc>
                <a:spcPts val="2100"/>
              </a:lnSpc>
              <a:buSzPct val="100000"/>
              <a:buChar char="•"/>
            </a:pPr>
            <a:r>
              <a:rPr lang="en-US" sz="1500" dirty="0">
                <a:solidFill>
                  <a:srgbClr val="E6EDF7"/>
                </a:solidFill>
                <a:latin typeface="Arial" pitchFamily="34" charset="0"/>
                <a:ea typeface="Arial" pitchFamily="34" charset="-122"/>
                <a:cs typeface="Arial" pitchFamily="34" charset="-120"/>
              </a:rPr>
              <a:t>HTML, CSS and JavaScript front end</a:t>
            </a:r>
            <a:endParaRPr lang="en-US" sz="1500" dirty="0"/>
          </a:p>
          <a:p>
            <a:pPr algn="l" marL="163830" indent="-163830">
              <a:lnSpc>
                <a:spcPts val="2100"/>
              </a:lnSpc>
              <a:buSzPct val="100000"/>
              <a:buChar char="•"/>
            </a:pPr>
            <a:r>
              <a:rPr lang="en-US" sz="1500" dirty="0">
                <a:solidFill>
                  <a:srgbClr val="E6EDF7"/>
                </a:solidFill>
                <a:latin typeface="Arial" pitchFamily="34" charset="0"/>
                <a:ea typeface="Arial" pitchFamily="34" charset="-122"/>
                <a:cs typeface="Arial" pitchFamily="34" charset="-120"/>
              </a:rPr>
              <a:t>Java back end with a separate data-access class</a:t>
            </a:r>
            <a:endParaRPr lang="en-US" sz="1500" dirty="0"/>
          </a:p>
          <a:p>
            <a:pPr algn="l" marL="163830" indent="-163830">
              <a:lnSpc>
                <a:spcPts val="2100"/>
              </a:lnSpc>
              <a:buSzPct val="100000"/>
              <a:buChar char="•"/>
            </a:pPr>
            <a:r>
              <a:rPr lang="en-US" sz="1500" dirty="0">
                <a:solidFill>
                  <a:srgbClr val="E6EDF7"/>
                </a:solidFill>
                <a:latin typeface="Arial" pitchFamily="34" charset="0"/>
                <a:ea typeface="Arial" pitchFamily="34" charset="-122"/>
                <a:cs typeface="Arial" pitchFamily="34" charset="-120"/>
              </a:rPr>
              <a:t>SQL database for employee, department and user data</a:t>
            </a:r>
            <a:endParaRPr lang="en-US" sz="1500" dirty="0"/>
          </a:p>
          <a:p>
            <a:pPr algn="l" marL="163830" indent="-163830">
              <a:lnSpc>
                <a:spcPts val="2100"/>
              </a:lnSpc>
              <a:buSzPct val="100000"/>
              <a:buChar char="•"/>
            </a:pPr>
            <a:r>
              <a:rPr lang="en-US" sz="1500" dirty="0">
                <a:solidFill>
                  <a:srgbClr val="E6EDF7"/>
                </a:solidFill>
                <a:latin typeface="Arial" pitchFamily="34" charset="0"/>
                <a:ea typeface="Arial" pitchFamily="34" charset="-122"/>
                <a:cs typeface="Arial" pitchFamily="34" charset="-120"/>
              </a:rPr>
              <a:t>Admin: add, view, search, update, delete, report</a:t>
            </a:r>
            <a:endParaRPr lang="en-US" sz="1500" dirty="0"/>
          </a:p>
          <a:p>
            <a:pPr algn="l" marL="163830" indent="-163830">
              <a:lnSpc>
                <a:spcPts val="2100"/>
              </a:lnSpc>
              <a:buSzPct val="100000"/>
              <a:buChar char="•"/>
            </a:pPr>
            <a:r>
              <a:rPr lang="en-US" sz="1500" dirty="0">
                <a:solidFill>
                  <a:srgbClr val="E6EDF7"/>
                </a:solidFill>
                <a:latin typeface="Arial" pitchFamily="34" charset="0"/>
                <a:ea typeface="Arial" pitchFamily="34" charset="-122"/>
                <a:cs typeface="Arial" pitchFamily="34" charset="-120"/>
              </a:rPr>
              <a:t>Viewer: log in, view and search only</a:t>
            </a:r>
            <a:endParaRPr lang="en-US" sz="1500" dirty="0"/>
          </a:p>
          <a:p>
            <a:pPr algn="l" marL="163830" indent="-163830">
              <a:lnSpc>
                <a:spcPts val="2100"/>
              </a:lnSpc>
              <a:buSzPct val="100000"/>
              <a:buChar char="•"/>
            </a:pPr>
            <a:r>
              <a:rPr lang="en-US" sz="1500" dirty="0">
                <a:solidFill>
                  <a:srgbClr val="E6EDF7"/>
                </a:solidFill>
                <a:latin typeface="Arial" pitchFamily="34" charset="0"/>
                <a:ea typeface="Arial" pitchFamily="34" charset="-122"/>
                <a:cs typeface="Arial" pitchFamily="34" charset="-120"/>
              </a:rPr>
              <a:t>Checks in the browser and again on the server</a:t>
            </a:r>
            <a:endParaRPr lang="en-US" sz="1500" dirty="0"/>
          </a:p>
        </p:txBody>
      </p:sp>
      <p:sp>
        <p:nvSpPr>
          <p:cNvPr id="7" name="Shape 5"/>
          <p:cNvSpPr/>
          <p:nvPr/>
        </p:nvSpPr>
        <p:spPr>
          <a:xfrm>
            <a:off x="6200775" y="1855291"/>
            <a:ext cx="5175250" cy="2393950"/>
          </a:xfrm>
          <a:prstGeom prst="roundRect">
            <a:avLst>
              <a:gd name="adj" fmla="val 4111"/>
            </a:avLst>
          </a:prstGeom>
          <a:solidFill>
            <a:srgbClr val="131C30"/>
          </a:solidFill>
          <a:ln w="6350">
            <a:solidFill>
              <a:srgbClr val="25324D"/>
            </a:solidFill>
            <a:prstDash val="solid"/>
          </a:ln>
        </p:spPr>
      </p:sp>
      <p:sp>
        <p:nvSpPr>
          <p:cNvPr id="8" name="Text 6"/>
          <p:cNvSpPr/>
          <p:nvPr/>
        </p:nvSpPr>
        <p:spPr>
          <a:xfrm>
            <a:off x="6457950" y="2112466"/>
            <a:ext cx="4800727" cy="30579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7"/>
                </a:solidFill>
                <a:latin typeface="Arial" pitchFamily="34" charset="0"/>
                <a:ea typeface="Arial" pitchFamily="34" charset="-122"/>
                <a:cs typeface="Arial" pitchFamily="34" charset="-120"/>
              </a:rPr>
              <a:t>Data managed</a:t>
            </a:r>
            <a:endParaRPr lang="en-US" sz="2000" dirty="0"/>
          </a:p>
        </p:txBody>
      </p:sp>
      <p:sp>
        <p:nvSpPr>
          <p:cNvPr id="9" name="Text 7"/>
          <p:cNvSpPr/>
          <p:nvPr/>
        </p:nvSpPr>
        <p:spPr>
          <a:xfrm>
            <a:off x="6548120" y="2519859"/>
            <a:ext cx="4702937" cy="1252240"/>
          </a:xfrm>
          <a:prstGeom prst="rect">
            <a:avLst/>
          </a:prstGeom>
          <a:noFill/>
          <a:ln/>
        </p:spPr>
        <p:txBody>
          <a:bodyPr wrap="square" lIns="0" tIns="0" rIns="0" bIns="0" rtlCol="0" anchor="t">
            <a:normAutofit/>
          </a:bodyPr>
          <a:lstStyle/>
          <a:p>
            <a:pPr algn="l" marL="163830" indent="-163830">
              <a:lnSpc>
                <a:spcPts val="2100"/>
              </a:lnSpc>
              <a:buSzPct val="100000"/>
              <a:buChar char="•"/>
            </a:pPr>
            <a:r>
              <a:rPr lang="en-US" sz="1500" b="1" dirty="0">
                <a:solidFill>
                  <a:srgbClr val="E6EDF7"/>
                </a:solidFill>
                <a:latin typeface="Arial" pitchFamily="34" charset="0"/>
                <a:ea typeface="Arial" pitchFamily="34" charset="-122"/>
                <a:cs typeface="Arial" pitchFamily="34" charset="-120"/>
              </a:rPr>
              <a:t>Employee</a:t>
            </a:r>
            <a:r>
              <a:rPr lang="en-US" sz="1500" dirty="0">
                <a:solidFill>
                  <a:srgbClr val="E6EDF7"/>
                </a:solidFill>
                <a:latin typeface="Arial" pitchFamily="34" charset="0"/>
                <a:ea typeface="Arial" pitchFamily="34" charset="-122"/>
                <a:cs typeface="Arial" pitchFamily="34" charset="-120"/>
              </a:rPr>
              <a:t>: ID, name, email, phone, designation, joining date, status (ACTIVE / INACTIVE)</a:t>
            </a:r>
            <a:endParaRPr lang="en-US" sz="1500" dirty="0"/>
          </a:p>
          <a:p>
            <a:pPr algn="l" marL="163830" indent="-163830">
              <a:lnSpc>
                <a:spcPts val="2100"/>
              </a:lnSpc>
              <a:buSzPct val="100000"/>
              <a:buChar char="•"/>
            </a:pPr>
            <a:r>
              <a:rPr lang="en-US" sz="1500" b="1" dirty="0">
                <a:solidFill>
                  <a:srgbClr val="E6EDF7"/>
                </a:solidFill>
                <a:latin typeface="Arial" pitchFamily="34" charset="0"/>
                <a:ea typeface="Arial" pitchFamily="34" charset="-122"/>
                <a:cs typeface="Arial" pitchFamily="34" charset="-120"/>
              </a:rPr>
              <a:t>Department</a:t>
            </a:r>
            <a:r>
              <a:rPr lang="en-US" sz="1500" dirty="0">
                <a:solidFill>
                  <a:srgbClr val="E6EDF7"/>
                </a:solidFill>
                <a:latin typeface="Arial" pitchFamily="34" charset="0"/>
                <a:ea typeface="Arial" pitchFamily="34" charset="-122"/>
                <a:cs typeface="Arial" pitchFamily="34" charset="-120"/>
              </a:rPr>
              <a:t>: ID, name, location</a:t>
            </a:r>
            <a:endParaRPr lang="en-US" sz="1500" dirty="0"/>
          </a:p>
          <a:p>
            <a:pPr algn="l" marL="163830" indent="-163830">
              <a:lnSpc>
                <a:spcPts val="2100"/>
              </a:lnSpc>
              <a:buSzPct val="100000"/>
              <a:buChar char="•"/>
            </a:pPr>
            <a:r>
              <a:rPr lang="en-US" sz="1500" b="1" dirty="0">
                <a:solidFill>
                  <a:srgbClr val="E6EDF7"/>
                </a:solidFill>
                <a:latin typeface="Arial" pitchFamily="34" charset="0"/>
                <a:ea typeface="Arial" pitchFamily="34" charset="-122"/>
                <a:cs typeface="Arial" pitchFamily="34" charset="-120"/>
              </a:rPr>
              <a:t>Users</a:t>
            </a:r>
            <a:r>
              <a:rPr lang="en-US" sz="1500" dirty="0">
                <a:solidFill>
                  <a:srgbClr val="E6EDF7"/>
                </a:solidFill>
                <a:latin typeface="Arial" pitchFamily="34" charset="0"/>
                <a:ea typeface="Arial" pitchFamily="34" charset="-122"/>
                <a:cs typeface="Arial" pitchFamily="34" charset="-120"/>
              </a:rPr>
              <a:t>: username, encrypted password, role (ADMIN / VIEWER)</a:t>
            </a:r>
            <a:endParaRPr lang="en-US" sz="1500" dirty="0"/>
          </a:p>
        </p:txBody>
      </p:sp>
      <p:sp>
        <p:nvSpPr>
          <p:cNvPr id="10" name="Text 8"/>
          <p:cNvSpPr/>
          <p:nvPr/>
        </p:nvSpPr>
        <p:spPr>
          <a:xfrm>
            <a:off x="812800" y="6255345"/>
            <a:ext cx="5886450"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C0"/>
                </a:solidFill>
                <a:latin typeface="Arial" pitchFamily="34" charset="0"/>
                <a:ea typeface="Arial" pitchFamily="34" charset="-122"/>
                <a:cs typeface="Arial" pitchFamily="34" charset="-120"/>
              </a:rPr>
              <a:t>Employee Management Analysis</a:t>
            </a:r>
            <a:endParaRPr lang="en-US" sz="1200" dirty="0"/>
          </a:p>
        </p:txBody>
      </p:sp>
      <p:sp>
        <p:nvSpPr>
          <p:cNvPr id="11" name="Text 9"/>
          <p:cNvSpPr/>
          <p:nvPr/>
        </p:nvSpPr>
        <p:spPr>
          <a:xfrm>
            <a:off x="9417050" y="6255345"/>
            <a:ext cx="1962150" cy="2216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3C0"/>
                </a:solidFill>
                <a:latin typeface="Arial" pitchFamily="34" charset="0"/>
                <a:ea typeface="Arial" pitchFamily="34" charset="-122"/>
                <a:cs typeface="Arial" pitchFamily="34" charset="-120"/>
              </a:rPr>
              <a:t>04 / 15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216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DD4BF"/>
                </a:solidFill>
                <a:latin typeface="Arial" pitchFamily="34" charset="0"/>
                <a:ea typeface="Arial" pitchFamily="34" charset="-122"/>
                <a:cs typeface="Arial" pitchFamily="34" charset="-120"/>
              </a:rPr>
              <a:t>ARCHITECTURE</a:t>
            </a:r>
            <a:endParaRPr lang="en-US" sz="1200" dirty="0"/>
          </a:p>
        </p:txBody>
      </p:sp>
      <p:sp>
        <p:nvSpPr>
          <p:cNvPr id="3" name="Text 1"/>
          <p:cNvSpPr/>
          <p:nvPr>
            <p:ph type="title"/>
          </p:nvPr>
        </p:nvSpPr>
        <p:spPr>
          <a:xfrm>
            <a:off x="812800" y="1085255"/>
            <a:ext cx="10883392" cy="43666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6EDF7"/>
                </a:solidFill>
                <a:latin typeface="Arial" pitchFamily="34" charset="0"/>
                <a:ea typeface="Arial" pitchFamily="34" charset="-122"/>
                <a:cs typeface="Arial" pitchFamily="34" charset="-120"/>
              </a:rPr>
              <a:t>Three-layer system architecture</a:t>
            </a:r>
            <a:endParaRPr lang="en-US" sz="3200" dirty="0"/>
          </a:p>
        </p:txBody>
      </p:sp>
      <p:sp>
        <p:nvSpPr>
          <p:cNvPr id="4" name="Shape 2"/>
          <p:cNvSpPr/>
          <p:nvPr/>
        </p:nvSpPr>
        <p:spPr>
          <a:xfrm>
            <a:off x="812800" y="1725116"/>
            <a:ext cx="10566400" cy="582513"/>
          </a:xfrm>
          <a:prstGeom prst="roundRect">
            <a:avLst>
              <a:gd name="adj" fmla="val 13081"/>
            </a:avLst>
          </a:prstGeom>
          <a:solidFill>
            <a:srgbClr val="14334F"/>
          </a:solidFill>
          <a:ln/>
        </p:spPr>
      </p:sp>
      <p:sp>
        <p:nvSpPr>
          <p:cNvPr id="5" name="Shape 3"/>
          <p:cNvSpPr/>
          <p:nvPr/>
        </p:nvSpPr>
        <p:spPr>
          <a:xfrm>
            <a:off x="812800" y="1725116"/>
            <a:ext cx="10566400" cy="582513"/>
          </a:xfrm>
          <a:custGeom>
            <a:avLst/>
            <a:gdLst/>
            <a:ahLst/>
            <a:cxnLst/>
            <a:rect l="l" t="t" r="r" b="b"/>
            <a:pathLst>
              <a:path w="10566400" h="582513">
                <a:moveTo>
                  <a:pt x="88900" y="582513"/>
                </a:moveTo>
                <a:lnTo>
                  <a:pt x="76200" y="582513"/>
                </a:lnTo>
                <a:arcTo hR="76200" wR="76200" stAng="5400000" swAng="5400000"/>
                <a:lnTo>
                  <a:pt x="0" y="76200"/>
                </a:lnTo>
                <a:arcTo hR="76200" wR="76200" stAng="10800000" swAng="5400000"/>
                <a:lnTo>
                  <a:pt x="88900" y="0"/>
                </a:lnTo>
                <a:lnTo>
                  <a:pt x="88900" y="582513"/>
                </a:lnTo>
                <a:close/>
              </a:path>
            </a:pathLst>
          </a:custGeom>
          <a:solidFill>
            <a:srgbClr val="60A5FA"/>
          </a:solidFill>
          <a:ln/>
        </p:spPr>
      </p:sp>
      <p:sp>
        <p:nvSpPr>
          <p:cNvPr id="6" name="Text 4"/>
          <p:cNvSpPr/>
          <p:nvPr/>
        </p:nvSpPr>
        <p:spPr>
          <a:xfrm>
            <a:off x="1155700" y="1890216"/>
            <a:ext cx="3401060" cy="27771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6EDF7"/>
                </a:solidFill>
                <a:latin typeface="Arial" pitchFamily="34" charset="0"/>
                <a:ea typeface="Arial" pitchFamily="34" charset="-122"/>
                <a:cs typeface="Arial" pitchFamily="34" charset="-120"/>
              </a:rPr>
              <a:t>Presentation layer</a:t>
            </a:r>
            <a:endParaRPr lang="en-US" sz="1800" dirty="0"/>
          </a:p>
        </p:txBody>
      </p:sp>
      <p:sp>
        <p:nvSpPr>
          <p:cNvPr id="7" name="Text 5"/>
          <p:cNvSpPr/>
          <p:nvPr/>
        </p:nvSpPr>
        <p:spPr>
          <a:xfrm>
            <a:off x="4711700" y="1898055"/>
            <a:ext cx="6632198" cy="261987"/>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6EDF7"/>
                </a:solidFill>
                <a:latin typeface="Arial" pitchFamily="34" charset="0"/>
                <a:ea typeface="Arial" pitchFamily="34" charset="-122"/>
                <a:cs typeface="Arial" pitchFamily="34" charset="-120"/>
              </a:rPr>
              <a:t>Web browser • HTML page structure • CSS styling • JavaScript validation</a:t>
            </a:r>
            <a:endParaRPr lang="en-US" sz="1500" dirty="0"/>
          </a:p>
        </p:txBody>
      </p:sp>
      <p:sp>
        <p:nvSpPr>
          <p:cNvPr id="8" name="Text 6"/>
          <p:cNvSpPr/>
          <p:nvPr/>
        </p:nvSpPr>
        <p:spPr>
          <a:xfrm>
            <a:off x="654304" y="2383830"/>
            <a:ext cx="10883392" cy="238026"/>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8FA3C0"/>
                </a:solidFill>
                <a:latin typeface="Arial" pitchFamily="34" charset="0"/>
                <a:ea typeface="Arial" pitchFamily="34" charset="-122"/>
                <a:cs typeface="Arial" pitchFamily="34" charset="-120"/>
              </a:rPr>
              <a:t>HTTP request and HTTP response</a:t>
            </a:r>
            <a:endParaRPr lang="en-US" sz="1300" dirty="0"/>
          </a:p>
        </p:txBody>
      </p:sp>
      <p:sp>
        <p:nvSpPr>
          <p:cNvPr id="9" name="Shape 7"/>
          <p:cNvSpPr/>
          <p:nvPr/>
        </p:nvSpPr>
        <p:spPr>
          <a:xfrm>
            <a:off x="812800" y="2672655"/>
            <a:ext cx="10566400" cy="582513"/>
          </a:xfrm>
          <a:prstGeom prst="roundRect">
            <a:avLst>
              <a:gd name="adj" fmla="val 13081"/>
            </a:avLst>
          </a:prstGeom>
          <a:solidFill>
            <a:srgbClr val="3B2A17"/>
          </a:solidFill>
          <a:ln/>
        </p:spPr>
      </p:sp>
      <p:sp>
        <p:nvSpPr>
          <p:cNvPr id="10" name="Shape 8"/>
          <p:cNvSpPr/>
          <p:nvPr/>
        </p:nvSpPr>
        <p:spPr>
          <a:xfrm>
            <a:off x="812800" y="2672655"/>
            <a:ext cx="10566400" cy="582513"/>
          </a:xfrm>
          <a:custGeom>
            <a:avLst/>
            <a:gdLst/>
            <a:ahLst/>
            <a:cxnLst/>
            <a:rect l="l" t="t" r="r" b="b"/>
            <a:pathLst>
              <a:path w="10566400" h="582513">
                <a:moveTo>
                  <a:pt x="88900" y="582513"/>
                </a:moveTo>
                <a:lnTo>
                  <a:pt x="76200" y="582513"/>
                </a:lnTo>
                <a:arcTo hR="76200" wR="76200" stAng="5400000" swAng="5400000"/>
                <a:lnTo>
                  <a:pt x="0" y="76200"/>
                </a:lnTo>
                <a:arcTo hR="76200" wR="76200" stAng="10800000" swAng="5400000"/>
                <a:lnTo>
                  <a:pt x="88900" y="0"/>
                </a:lnTo>
                <a:lnTo>
                  <a:pt x="88900" y="582513"/>
                </a:lnTo>
                <a:close/>
              </a:path>
            </a:pathLst>
          </a:custGeom>
          <a:solidFill>
            <a:srgbClr val="F59E0B"/>
          </a:solidFill>
          <a:ln/>
        </p:spPr>
      </p:sp>
      <p:sp>
        <p:nvSpPr>
          <p:cNvPr id="11" name="Text 9"/>
          <p:cNvSpPr/>
          <p:nvPr/>
        </p:nvSpPr>
        <p:spPr>
          <a:xfrm>
            <a:off x="1155700" y="2837755"/>
            <a:ext cx="3401060" cy="27771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6EDF7"/>
                </a:solidFill>
                <a:latin typeface="Arial" pitchFamily="34" charset="0"/>
                <a:ea typeface="Arial" pitchFamily="34" charset="-122"/>
                <a:cs typeface="Arial" pitchFamily="34" charset="-120"/>
              </a:rPr>
              <a:t>Application layer (Java)</a:t>
            </a:r>
            <a:endParaRPr lang="en-US" sz="1800" dirty="0"/>
          </a:p>
        </p:txBody>
      </p:sp>
      <p:sp>
        <p:nvSpPr>
          <p:cNvPr id="12" name="Text 10"/>
          <p:cNvSpPr/>
          <p:nvPr/>
        </p:nvSpPr>
        <p:spPr>
          <a:xfrm>
            <a:off x="4711700" y="2845594"/>
            <a:ext cx="6568500" cy="261987"/>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6EDF7"/>
                </a:solidFill>
                <a:latin typeface="Arial" pitchFamily="34" charset="0"/>
                <a:ea typeface="Arial" pitchFamily="34" charset="-122"/>
                <a:cs typeface="Arial" pitchFamily="34" charset="-120"/>
              </a:rPr>
              <a:t>Servlets / controllers • business logic and validation • DAO classes (JDBC)</a:t>
            </a:r>
            <a:endParaRPr lang="en-US" sz="1500" dirty="0"/>
          </a:p>
        </p:txBody>
      </p:sp>
      <p:sp>
        <p:nvSpPr>
          <p:cNvPr id="13" name="Text 11"/>
          <p:cNvSpPr/>
          <p:nvPr/>
        </p:nvSpPr>
        <p:spPr>
          <a:xfrm>
            <a:off x="654304" y="3331369"/>
            <a:ext cx="10883392" cy="238026"/>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8FA3C0"/>
                </a:solidFill>
                <a:latin typeface="Arial" pitchFamily="34" charset="0"/>
                <a:ea typeface="Arial" pitchFamily="34" charset="-122"/>
                <a:cs typeface="Arial" pitchFamily="34" charset="-120"/>
              </a:rPr>
              <a:t>SQL query and result set</a:t>
            </a:r>
            <a:endParaRPr lang="en-US" sz="1300" dirty="0"/>
          </a:p>
        </p:txBody>
      </p:sp>
      <p:sp>
        <p:nvSpPr>
          <p:cNvPr id="14" name="Shape 12"/>
          <p:cNvSpPr/>
          <p:nvPr/>
        </p:nvSpPr>
        <p:spPr>
          <a:xfrm>
            <a:off x="812800" y="3620195"/>
            <a:ext cx="10566400" cy="582513"/>
          </a:xfrm>
          <a:prstGeom prst="roundRect">
            <a:avLst>
              <a:gd name="adj" fmla="val 13081"/>
            </a:avLst>
          </a:prstGeom>
          <a:solidFill>
            <a:srgbClr val="2B2747"/>
          </a:solidFill>
          <a:ln/>
        </p:spPr>
      </p:sp>
      <p:sp>
        <p:nvSpPr>
          <p:cNvPr id="15" name="Shape 13"/>
          <p:cNvSpPr/>
          <p:nvPr/>
        </p:nvSpPr>
        <p:spPr>
          <a:xfrm>
            <a:off x="812800" y="3620195"/>
            <a:ext cx="10566400" cy="582513"/>
          </a:xfrm>
          <a:custGeom>
            <a:avLst/>
            <a:gdLst/>
            <a:ahLst/>
            <a:cxnLst/>
            <a:rect l="l" t="t" r="r" b="b"/>
            <a:pathLst>
              <a:path w="10566400" h="582513">
                <a:moveTo>
                  <a:pt x="88900" y="582513"/>
                </a:moveTo>
                <a:lnTo>
                  <a:pt x="76200" y="582513"/>
                </a:lnTo>
                <a:arcTo hR="76200" wR="76200" stAng="5400000" swAng="5400000"/>
                <a:lnTo>
                  <a:pt x="0" y="76200"/>
                </a:lnTo>
                <a:arcTo hR="76200" wR="76200" stAng="10800000" swAng="5400000"/>
                <a:lnTo>
                  <a:pt x="88900" y="0"/>
                </a:lnTo>
                <a:lnTo>
                  <a:pt x="88900" y="582513"/>
                </a:lnTo>
                <a:close/>
              </a:path>
            </a:pathLst>
          </a:custGeom>
          <a:solidFill>
            <a:srgbClr val="A78BFA"/>
          </a:solidFill>
          <a:ln/>
        </p:spPr>
      </p:sp>
      <p:sp>
        <p:nvSpPr>
          <p:cNvPr id="16" name="Text 14"/>
          <p:cNvSpPr/>
          <p:nvPr/>
        </p:nvSpPr>
        <p:spPr>
          <a:xfrm>
            <a:off x="1155700" y="3785295"/>
            <a:ext cx="3401060" cy="27771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6EDF7"/>
                </a:solidFill>
                <a:latin typeface="Arial" pitchFamily="34" charset="0"/>
                <a:ea typeface="Arial" pitchFamily="34" charset="-122"/>
                <a:cs typeface="Arial" pitchFamily="34" charset="-120"/>
              </a:rPr>
              <a:t>Database layer (SQL)</a:t>
            </a:r>
            <a:endParaRPr lang="en-US" sz="1800" dirty="0"/>
          </a:p>
        </p:txBody>
      </p:sp>
      <p:sp>
        <p:nvSpPr>
          <p:cNvPr id="17" name="Text 15"/>
          <p:cNvSpPr/>
          <p:nvPr/>
        </p:nvSpPr>
        <p:spPr>
          <a:xfrm>
            <a:off x="4711700" y="3793133"/>
            <a:ext cx="3932575" cy="261987"/>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6EDF7"/>
                </a:solidFill>
                <a:latin typeface="Arial" pitchFamily="34" charset="0"/>
                <a:ea typeface="Arial" pitchFamily="34" charset="-122"/>
                <a:cs typeface="Arial" pitchFamily="34" charset="-120"/>
              </a:rPr>
              <a:t>employee table • department table • users table</a:t>
            </a:r>
            <a:endParaRPr lang="en-US" sz="1500" dirty="0"/>
          </a:p>
        </p:txBody>
      </p:sp>
      <p:sp>
        <p:nvSpPr>
          <p:cNvPr id="18" name="Text 16"/>
          <p:cNvSpPr/>
          <p:nvPr/>
        </p:nvSpPr>
        <p:spPr>
          <a:xfrm>
            <a:off x="812800" y="6255345"/>
            <a:ext cx="5886450"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C0"/>
                </a:solidFill>
                <a:latin typeface="Arial" pitchFamily="34" charset="0"/>
                <a:ea typeface="Arial" pitchFamily="34" charset="-122"/>
                <a:cs typeface="Arial" pitchFamily="34" charset="-120"/>
              </a:rPr>
              <a:t>Employee Management Analysis</a:t>
            </a:r>
            <a:endParaRPr lang="en-US" sz="1200" dirty="0"/>
          </a:p>
        </p:txBody>
      </p:sp>
      <p:sp>
        <p:nvSpPr>
          <p:cNvPr id="19" name="Text 17"/>
          <p:cNvSpPr/>
          <p:nvPr/>
        </p:nvSpPr>
        <p:spPr>
          <a:xfrm>
            <a:off x="9417050" y="6255345"/>
            <a:ext cx="1962150" cy="2216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3C0"/>
                </a:solidFill>
                <a:latin typeface="Arial" pitchFamily="34" charset="0"/>
                <a:ea typeface="Arial" pitchFamily="34" charset="-122"/>
                <a:cs typeface="Arial" pitchFamily="34" charset="-120"/>
              </a:rPr>
              <a:t>05 / 15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216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DD4BF"/>
                </a:solidFill>
                <a:latin typeface="Arial" pitchFamily="34" charset="0"/>
                <a:ea typeface="Arial" pitchFamily="34" charset="-122"/>
                <a:cs typeface="Arial" pitchFamily="34" charset="-120"/>
              </a:rPr>
              <a:t>FUNCTIONAL MODULES</a:t>
            </a:r>
            <a:endParaRPr lang="en-US" sz="1200" dirty="0"/>
          </a:p>
        </p:txBody>
      </p:sp>
      <p:sp>
        <p:nvSpPr>
          <p:cNvPr id="3" name="Text 1"/>
          <p:cNvSpPr/>
          <p:nvPr>
            <p:ph type="title"/>
          </p:nvPr>
        </p:nvSpPr>
        <p:spPr>
          <a:xfrm>
            <a:off x="812800" y="1085255"/>
            <a:ext cx="10883392" cy="43666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6EDF7"/>
                </a:solidFill>
                <a:latin typeface="Arial" pitchFamily="34" charset="0"/>
                <a:ea typeface="Arial" pitchFamily="34" charset="-122"/>
                <a:cs typeface="Arial" pitchFamily="34" charset="-120"/>
              </a:rPr>
              <a:t>Four processes, each with one job</a:t>
            </a:r>
            <a:endParaRPr lang="en-US" sz="3200" dirty="0"/>
          </a:p>
        </p:txBody>
      </p:sp>
      <p:sp>
        <p:nvSpPr>
          <p:cNvPr id="4" name="Shape 2"/>
          <p:cNvSpPr/>
          <p:nvPr/>
        </p:nvSpPr>
        <p:spPr>
          <a:xfrm>
            <a:off x="815975" y="1855291"/>
            <a:ext cx="5175250" cy="1583184"/>
          </a:xfrm>
          <a:prstGeom prst="roundRect">
            <a:avLst>
              <a:gd name="adj" fmla="val 6217"/>
            </a:avLst>
          </a:prstGeom>
          <a:solidFill>
            <a:srgbClr val="131C30"/>
          </a:solidFill>
          <a:ln w="6350">
            <a:solidFill>
              <a:srgbClr val="25324D"/>
            </a:solidFill>
            <a:prstDash val="solid"/>
          </a:ln>
        </p:spPr>
      </p:sp>
      <p:sp>
        <p:nvSpPr>
          <p:cNvPr id="5" name="Text 3"/>
          <p:cNvSpPr/>
          <p:nvPr/>
        </p:nvSpPr>
        <p:spPr>
          <a:xfrm>
            <a:off x="1073150" y="2087066"/>
            <a:ext cx="4800727" cy="25434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D4BF"/>
                </a:solidFill>
                <a:latin typeface="Arial" pitchFamily="34" charset="0"/>
                <a:ea typeface="Arial" pitchFamily="34" charset="-122"/>
                <a:cs typeface="Arial" pitchFamily="34" charset="-120"/>
              </a:rPr>
              <a:t>1.0</a:t>
            </a:r>
            <a:endParaRPr lang="en-US" sz="1400" dirty="0"/>
          </a:p>
        </p:txBody>
      </p:sp>
      <p:sp>
        <p:nvSpPr>
          <p:cNvPr id="6" name="Text 4"/>
          <p:cNvSpPr/>
          <p:nvPr/>
        </p:nvSpPr>
        <p:spPr>
          <a:xfrm>
            <a:off x="1073150" y="2392214"/>
            <a:ext cx="4800727" cy="30579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7"/>
                </a:solidFill>
                <a:latin typeface="Arial" pitchFamily="34" charset="0"/>
                <a:ea typeface="Arial" pitchFamily="34" charset="-122"/>
                <a:cs typeface="Arial" pitchFamily="34" charset="-120"/>
              </a:rPr>
              <a:t>User authentication</a:t>
            </a:r>
            <a:endParaRPr lang="en-US" sz="2000" dirty="0"/>
          </a:p>
        </p:txBody>
      </p:sp>
      <p:sp>
        <p:nvSpPr>
          <p:cNvPr id="7" name="Text 5"/>
          <p:cNvSpPr/>
          <p:nvPr/>
        </p:nvSpPr>
        <p:spPr>
          <a:xfrm>
            <a:off x="1073150" y="2748806"/>
            <a:ext cx="4800727" cy="25434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DF7"/>
                </a:solidFill>
                <a:latin typeface="Arial" pitchFamily="34" charset="0"/>
                <a:ea typeface="Arial" pitchFamily="34" charset="-122"/>
                <a:cs typeface="Arial" pitchFamily="34" charset="-120"/>
              </a:rPr>
              <a:t>Login, credential check against the users table, role identified, logout.</a:t>
            </a:r>
            <a:endParaRPr lang="en-US" sz="1400" dirty="0"/>
          </a:p>
        </p:txBody>
      </p:sp>
      <p:sp>
        <p:nvSpPr>
          <p:cNvPr id="8" name="Shape 6"/>
          <p:cNvSpPr/>
          <p:nvPr/>
        </p:nvSpPr>
        <p:spPr>
          <a:xfrm>
            <a:off x="6200775" y="1855291"/>
            <a:ext cx="5175250" cy="1583184"/>
          </a:xfrm>
          <a:prstGeom prst="roundRect">
            <a:avLst>
              <a:gd name="adj" fmla="val 6217"/>
            </a:avLst>
          </a:prstGeom>
          <a:solidFill>
            <a:srgbClr val="131C30"/>
          </a:solidFill>
          <a:ln w="6350">
            <a:solidFill>
              <a:srgbClr val="25324D"/>
            </a:solidFill>
            <a:prstDash val="solid"/>
          </a:ln>
        </p:spPr>
      </p:sp>
      <p:sp>
        <p:nvSpPr>
          <p:cNvPr id="9" name="Text 7"/>
          <p:cNvSpPr/>
          <p:nvPr/>
        </p:nvSpPr>
        <p:spPr>
          <a:xfrm>
            <a:off x="6457950" y="2087066"/>
            <a:ext cx="4800727" cy="25434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D4BF"/>
                </a:solidFill>
                <a:latin typeface="Arial" pitchFamily="34" charset="0"/>
                <a:ea typeface="Arial" pitchFamily="34" charset="-122"/>
                <a:cs typeface="Arial" pitchFamily="34" charset="-120"/>
              </a:rPr>
              <a:t>2.0</a:t>
            </a:r>
            <a:endParaRPr lang="en-US" sz="1400" dirty="0"/>
          </a:p>
        </p:txBody>
      </p:sp>
      <p:sp>
        <p:nvSpPr>
          <p:cNvPr id="10" name="Text 8"/>
          <p:cNvSpPr/>
          <p:nvPr/>
        </p:nvSpPr>
        <p:spPr>
          <a:xfrm>
            <a:off x="6457950" y="2392214"/>
            <a:ext cx="4800727" cy="30579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7"/>
                </a:solidFill>
                <a:latin typeface="Arial" pitchFamily="34" charset="0"/>
                <a:ea typeface="Arial" pitchFamily="34" charset="-122"/>
                <a:cs typeface="Arial" pitchFamily="34" charset="-120"/>
              </a:rPr>
              <a:t>Manage employees</a:t>
            </a:r>
            <a:endParaRPr lang="en-US" sz="2000" dirty="0"/>
          </a:p>
        </p:txBody>
      </p:sp>
      <p:sp>
        <p:nvSpPr>
          <p:cNvPr id="11" name="Text 9"/>
          <p:cNvSpPr/>
          <p:nvPr/>
        </p:nvSpPr>
        <p:spPr>
          <a:xfrm>
            <a:off x="6457950" y="2748806"/>
            <a:ext cx="4800727" cy="48329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DF7"/>
                </a:solidFill>
                <a:latin typeface="Arial" pitchFamily="34" charset="0"/>
                <a:ea typeface="Arial" pitchFamily="34" charset="-122"/>
                <a:cs typeface="Arial" pitchFamily="34" charset="-120"/>
              </a:rPr>
              <a:t>Add, view, update (ID read-only) and delete with a confirmation dialog.</a:t>
            </a:r>
            <a:endParaRPr lang="en-US" sz="1400" dirty="0"/>
          </a:p>
        </p:txBody>
      </p:sp>
      <p:sp>
        <p:nvSpPr>
          <p:cNvPr id="12" name="Shape 10"/>
          <p:cNvSpPr/>
          <p:nvPr/>
        </p:nvSpPr>
        <p:spPr>
          <a:xfrm>
            <a:off x="815975" y="3648025"/>
            <a:ext cx="5175250" cy="1583184"/>
          </a:xfrm>
          <a:prstGeom prst="roundRect">
            <a:avLst>
              <a:gd name="adj" fmla="val 6217"/>
            </a:avLst>
          </a:prstGeom>
          <a:solidFill>
            <a:srgbClr val="131C30"/>
          </a:solidFill>
          <a:ln w="6350">
            <a:solidFill>
              <a:srgbClr val="25324D"/>
            </a:solidFill>
            <a:prstDash val="solid"/>
          </a:ln>
        </p:spPr>
      </p:sp>
      <p:sp>
        <p:nvSpPr>
          <p:cNvPr id="13" name="Text 11"/>
          <p:cNvSpPr/>
          <p:nvPr/>
        </p:nvSpPr>
        <p:spPr>
          <a:xfrm>
            <a:off x="1073150" y="3879800"/>
            <a:ext cx="4800727" cy="25434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D4BF"/>
                </a:solidFill>
                <a:latin typeface="Arial" pitchFamily="34" charset="0"/>
                <a:ea typeface="Arial" pitchFamily="34" charset="-122"/>
                <a:cs typeface="Arial" pitchFamily="34" charset="-120"/>
              </a:rPr>
              <a:t>3.0</a:t>
            </a:r>
            <a:endParaRPr lang="en-US" sz="1400" dirty="0"/>
          </a:p>
        </p:txBody>
      </p:sp>
      <p:sp>
        <p:nvSpPr>
          <p:cNvPr id="14" name="Text 12"/>
          <p:cNvSpPr/>
          <p:nvPr/>
        </p:nvSpPr>
        <p:spPr>
          <a:xfrm>
            <a:off x="1073150" y="4184948"/>
            <a:ext cx="4800727" cy="30579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7"/>
                </a:solidFill>
                <a:latin typeface="Arial" pitchFamily="34" charset="0"/>
                <a:ea typeface="Arial" pitchFamily="34" charset="-122"/>
                <a:cs typeface="Arial" pitchFamily="34" charset="-120"/>
              </a:rPr>
              <a:t>Search employees</a:t>
            </a:r>
            <a:endParaRPr lang="en-US" sz="2000" dirty="0"/>
          </a:p>
        </p:txBody>
      </p:sp>
      <p:sp>
        <p:nvSpPr>
          <p:cNvPr id="15" name="Text 13"/>
          <p:cNvSpPr/>
          <p:nvPr/>
        </p:nvSpPr>
        <p:spPr>
          <a:xfrm>
            <a:off x="1073150" y="4541540"/>
            <a:ext cx="4800727" cy="48329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DF7"/>
                </a:solidFill>
                <a:latin typeface="Arial" pitchFamily="34" charset="0"/>
                <a:ea typeface="Arial" pitchFamily="34" charset="-122"/>
                <a:cs typeface="Arial" pitchFamily="34" charset="-120"/>
              </a:rPr>
              <a:t>Search by ID, name or department, with a clear “No records found” message.</a:t>
            </a:r>
            <a:endParaRPr lang="en-US" sz="1400" dirty="0"/>
          </a:p>
        </p:txBody>
      </p:sp>
      <p:sp>
        <p:nvSpPr>
          <p:cNvPr id="16" name="Shape 14"/>
          <p:cNvSpPr/>
          <p:nvPr/>
        </p:nvSpPr>
        <p:spPr>
          <a:xfrm>
            <a:off x="6200775" y="3648025"/>
            <a:ext cx="5175250" cy="1583184"/>
          </a:xfrm>
          <a:prstGeom prst="roundRect">
            <a:avLst>
              <a:gd name="adj" fmla="val 6217"/>
            </a:avLst>
          </a:prstGeom>
          <a:solidFill>
            <a:srgbClr val="131C30"/>
          </a:solidFill>
          <a:ln w="6350">
            <a:solidFill>
              <a:srgbClr val="25324D"/>
            </a:solidFill>
            <a:prstDash val="solid"/>
          </a:ln>
        </p:spPr>
      </p:sp>
      <p:sp>
        <p:nvSpPr>
          <p:cNvPr id="17" name="Text 15"/>
          <p:cNvSpPr/>
          <p:nvPr/>
        </p:nvSpPr>
        <p:spPr>
          <a:xfrm>
            <a:off x="6457950" y="3879800"/>
            <a:ext cx="4800727" cy="25434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DD4BF"/>
                </a:solidFill>
                <a:latin typeface="Arial" pitchFamily="34" charset="0"/>
                <a:ea typeface="Arial" pitchFamily="34" charset="-122"/>
                <a:cs typeface="Arial" pitchFamily="34" charset="-120"/>
              </a:rPr>
              <a:t>4.0</a:t>
            </a:r>
            <a:endParaRPr lang="en-US" sz="1400" dirty="0"/>
          </a:p>
        </p:txBody>
      </p:sp>
      <p:sp>
        <p:nvSpPr>
          <p:cNvPr id="18" name="Text 16"/>
          <p:cNvSpPr/>
          <p:nvPr/>
        </p:nvSpPr>
        <p:spPr>
          <a:xfrm>
            <a:off x="6457950" y="4184948"/>
            <a:ext cx="4800727" cy="30579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7"/>
                </a:solidFill>
                <a:latin typeface="Arial" pitchFamily="34" charset="0"/>
                <a:ea typeface="Arial" pitchFamily="34" charset="-122"/>
                <a:cs typeface="Arial" pitchFamily="34" charset="-120"/>
              </a:rPr>
              <a:t>Generate reports</a:t>
            </a:r>
            <a:endParaRPr lang="en-US" sz="2000" dirty="0"/>
          </a:p>
        </p:txBody>
      </p:sp>
      <p:sp>
        <p:nvSpPr>
          <p:cNvPr id="19" name="Text 17"/>
          <p:cNvSpPr/>
          <p:nvPr/>
        </p:nvSpPr>
        <p:spPr>
          <a:xfrm>
            <a:off x="6457950" y="4541540"/>
            <a:ext cx="4914900" cy="25434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DF7"/>
                </a:solidFill>
                <a:latin typeface="Arial" pitchFamily="34" charset="0"/>
                <a:ea typeface="Arial" pitchFamily="34" charset="-122"/>
                <a:cs typeface="Arial" pitchFamily="34" charset="-120"/>
              </a:rPr>
              <a:t>Department-wise totals, active and inactive counts, with a bar chart.</a:t>
            </a:r>
            <a:endParaRPr lang="en-US" sz="1400" dirty="0"/>
          </a:p>
        </p:txBody>
      </p:sp>
      <p:sp>
        <p:nvSpPr>
          <p:cNvPr id="20" name="Text 18"/>
          <p:cNvSpPr/>
          <p:nvPr/>
        </p:nvSpPr>
        <p:spPr>
          <a:xfrm>
            <a:off x="812800" y="6255345"/>
            <a:ext cx="5886450"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C0"/>
                </a:solidFill>
                <a:latin typeface="Arial" pitchFamily="34" charset="0"/>
                <a:ea typeface="Arial" pitchFamily="34" charset="-122"/>
                <a:cs typeface="Arial" pitchFamily="34" charset="-120"/>
              </a:rPr>
              <a:t>Employee Management Analysis</a:t>
            </a:r>
            <a:endParaRPr lang="en-US" sz="1200" dirty="0"/>
          </a:p>
        </p:txBody>
      </p:sp>
      <p:sp>
        <p:nvSpPr>
          <p:cNvPr id="21" name="Text 19"/>
          <p:cNvSpPr/>
          <p:nvPr/>
        </p:nvSpPr>
        <p:spPr>
          <a:xfrm>
            <a:off x="9417050" y="6255345"/>
            <a:ext cx="1962150" cy="2216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3C0"/>
                </a:solidFill>
                <a:latin typeface="Arial" pitchFamily="34" charset="0"/>
                <a:ea typeface="Arial" pitchFamily="34" charset="-122"/>
                <a:cs typeface="Arial" pitchFamily="34" charset="-120"/>
              </a:rPr>
              <a:t>06 / 15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216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DD4BF"/>
                </a:solidFill>
                <a:latin typeface="Arial" pitchFamily="34" charset="0"/>
                <a:ea typeface="Arial" pitchFamily="34" charset="-122"/>
                <a:cs typeface="Arial" pitchFamily="34" charset="-120"/>
              </a:rPr>
              <a:t>IMPLEMENTATION AND DEVELOPMENT</a:t>
            </a:r>
            <a:endParaRPr lang="en-US" sz="1200" dirty="0"/>
          </a:p>
        </p:txBody>
      </p:sp>
      <p:sp>
        <p:nvSpPr>
          <p:cNvPr id="3" name="Text 1"/>
          <p:cNvSpPr/>
          <p:nvPr>
            <p:ph type="title"/>
          </p:nvPr>
        </p:nvSpPr>
        <p:spPr>
          <a:xfrm>
            <a:off x="812800" y="1085255"/>
            <a:ext cx="10883392" cy="43666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6EDF7"/>
                </a:solidFill>
                <a:latin typeface="Arial" pitchFamily="34" charset="0"/>
                <a:ea typeface="Arial" pitchFamily="34" charset="-122"/>
                <a:cs typeface="Arial" pitchFamily="34" charset="-120"/>
              </a:rPr>
              <a:t>Separation of concerns in code</a:t>
            </a:r>
            <a:endParaRPr lang="en-US" sz="3200" dirty="0"/>
          </a:p>
        </p:txBody>
      </p:sp>
      <p:sp>
        <p:nvSpPr>
          <p:cNvPr id="4" name="Shape 2"/>
          <p:cNvSpPr/>
          <p:nvPr/>
        </p:nvSpPr>
        <p:spPr>
          <a:xfrm>
            <a:off x="812800" y="1801316"/>
            <a:ext cx="4445000" cy="2904232"/>
          </a:xfrm>
          <a:prstGeom prst="roundRect">
            <a:avLst>
              <a:gd name="adj" fmla="val 3498"/>
            </a:avLst>
          </a:prstGeom>
          <a:solidFill>
            <a:srgbClr val="1A2640"/>
          </a:solidFill>
          <a:ln/>
        </p:spPr>
      </p:sp>
      <p:sp>
        <p:nvSpPr>
          <p:cNvPr id="5" name="Text 3"/>
          <p:cNvSpPr/>
          <p:nvPr/>
        </p:nvSpPr>
        <p:spPr>
          <a:xfrm>
            <a:off x="1066800" y="2029916"/>
            <a:ext cx="4055110" cy="238026"/>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DD4BF"/>
                </a:solidFill>
                <a:latin typeface="Arial" pitchFamily="34" charset="0"/>
                <a:ea typeface="Arial" pitchFamily="34" charset="-122"/>
                <a:cs typeface="Arial" pitchFamily="34" charset="-120"/>
              </a:rPr>
              <a:t>PROJECT STRUCTURE</a:t>
            </a:r>
            <a:endParaRPr lang="en-US" sz="1300" dirty="0"/>
          </a:p>
        </p:txBody>
      </p:sp>
      <p:sp>
        <p:nvSpPr>
          <p:cNvPr id="6" name="Text 4"/>
          <p:cNvSpPr/>
          <p:nvPr/>
        </p:nvSpPr>
        <p:spPr>
          <a:xfrm>
            <a:off x="1066800" y="2331442"/>
            <a:ext cx="4055110" cy="2380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DF7"/>
                </a:solidFill>
                <a:latin typeface="Courier New" pitchFamily="49" charset="0"/>
                <a:ea typeface="Courier New" pitchFamily="49" charset="-122"/>
                <a:cs typeface="Courier New" pitchFamily="49" charset="-120"/>
              </a:rPr>
              <a:t>java/model: Employee</a:t>
            </a:r>
            <a:endParaRPr lang="en-US" sz="1300" dirty="0"/>
          </a:p>
        </p:txBody>
      </p:sp>
      <p:sp>
        <p:nvSpPr>
          <p:cNvPr id="7" name="Text 5"/>
          <p:cNvSpPr/>
          <p:nvPr/>
        </p:nvSpPr>
        <p:spPr>
          <a:xfrm>
            <a:off x="1066800" y="2632968"/>
            <a:ext cx="4055110" cy="2380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DF7"/>
                </a:solidFill>
                <a:latin typeface="Courier New" pitchFamily="49" charset="0"/>
                <a:ea typeface="Courier New" pitchFamily="49" charset="-122"/>
                <a:cs typeface="Courier New" pitchFamily="49" charset="-120"/>
              </a:rPr>
              <a:t>java/dao: DBConnection, EmployeeDAO</a:t>
            </a:r>
            <a:endParaRPr lang="en-US" sz="1300" dirty="0"/>
          </a:p>
        </p:txBody>
      </p:sp>
      <p:sp>
        <p:nvSpPr>
          <p:cNvPr id="8" name="Text 6"/>
          <p:cNvSpPr/>
          <p:nvPr/>
        </p:nvSpPr>
        <p:spPr>
          <a:xfrm>
            <a:off x="1066800" y="2934494"/>
            <a:ext cx="4055110" cy="4506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DF7"/>
                </a:solidFill>
                <a:latin typeface="Courier New" pitchFamily="49" charset="0"/>
                <a:ea typeface="Courier New" pitchFamily="49" charset="-122"/>
                <a:cs typeface="Courier New" pitchFamily="49" charset="-120"/>
              </a:rPr>
              <a:t>java/controller: LoginServlet, EmployeeServlet, ReportServlet</a:t>
            </a:r>
            <a:endParaRPr lang="en-US" sz="1300" dirty="0"/>
          </a:p>
        </p:txBody>
      </p:sp>
      <p:sp>
        <p:nvSpPr>
          <p:cNvPr id="9" name="Text 7"/>
          <p:cNvSpPr/>
          <p:nvPr/>
        </p:nvSpPr>
        <p:spPr>
          <a:xfrm>
            <a:off x="1066800" y="3448645"/>
            <a:ext cx="4055110" cy="45065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DF7"/>
                </a:solidFill>
                <a:latin typeface="Courier New" pitchFamily="49" charset="0"/>
                <a:ea typeface="Courier New" pitchFamily="49" charset="-122"/>
                <a:cs typeface="Courier New" pitchFamily="49" charset="-120"/>
              </a:rPr>
              <a:t>webapp: login, dashboard, employees, add / edit pages</a:t>
            </a:r>
            <a:endParaRPr lang="en-US" sz="1300" dirty="0"/>
          </a:p>
        </p:txBody>
      </p:sp>
      <p:sp>
        <p:nvSpPr>
          <p:cNvPr id="10" name="Text 8"/>
          <p:cNvSpPr/>
          <p:nvPr/>
        </p:nvSpPr>
        <p:spPr>
          <a:xfrm>
            <a:off x="1066800" y="3962797"/>
            <a:ext cx="4055110" cy="2380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DF7"/>
                </a:solidFill>
                <a:latin typeface="Courier New" pitchFamily="49" charset="0"/>
                <a:ea typeface="Courier New" pitchFamily="49" charset="-122"/>
                <a:cs typeface="Courier New" pitchFamily="49" charset="-120"/>
              </a:rPr>
              <a:t>webapp/css, js: style.css, validate.js</a:t>
            </a:r>
            <a:endParaRPr lang="en-US" sz="1300" dirty="0"/>
          </a:p>
        </p:txBody>
      </p:sp>
      <p:sp>
        <p:nvSpPr>
          <p:cNvPr id="11" name="Text 9"/>
          <p:cNvSpPr/>
          <p:nvPr/>
        </p:nvSpPr>
        <p:spPr>
          <a:xfrm>
            <a:off x="1066800" y="4264323"/>
            <a:ext cx="4055110" cy="2380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DF7"/>
                </a:solidFill>
                <a:latin typeface="Courier New" pitchFamily="49" charset="0"/>
                <a:ea typeface="Courier New" pitchFamily="49" charset="-122"/>
                <a:cs typeface="Courier New" pitchFamily="49" charset="-120"/>
              </a:rPr>
              <a:t>database: schema.sql</a:t>
            </a:r>
            <a:endParaRPr lang="en-US" sz="1300" dirty="0"/>
          </a:p>
        </p:txBody>
      </p:sp>
      <p:sp>
        <p:nvSpPr>
          <p:cNvPr id="12" name="Text 10"/>
          <p:cNvSpPr/>
          <p:nvPr/>
        </p:nvSpPr>
        <p:spPr>
          <a:xfrm>
            <a:off x="5601970" y="1801316"/>
            <a:ext cx="5945632" cy="1742976"/>
          </a:xfrm>
          <a:prstGeom prst="rect">
            <a:avLst/>
          </a:prstGeom>
          <a:noFill/>
          <a:ln/>
        </p:spPr>
        <p:txBody>
          <a:bodyPr wrap="square" lIns="0" tIns="0" rIns="0" bIns="0" rtlCol="0" anchor="t">
            <a:normAutofit/>
          </a:bodyPr>
          <a:lstStyle/>
          <a:p>
            <a:pPr algn="l" marL="163830" indent="-163830">
              <a:lnSpc>
                <a:spcPts val="2100"/>
              </a:lnSpc>
              <a:buSzPct val="100000"/>
              <a:buChar char="•"/>
            </a:pPr>
            <a:r>
              <a:rPr lang="en-US" sz="1500" b="1" dirty="0">
                <a:solidFill>
                  <a:srgbClr val="E6EDF7"/>
                </a:solidFill>
                <a:latin typeface="Arial" pitchFamily="34" charset="0"/>
                <a:ea typeface="Arial" pitchFamily="34" charset="-122"/>
                <a:cs typeface="Arial" pitchFamily="34" charset="-120"/>
              </a:rPr>
              <a:t>Front end:</a:t>
            </a:r>
            <a:r>
              <a:rPr lang="en-US" sz="1500" dirty="0">
                <a:solidFill>
                  <a:srgbClr val="E6EDF7"/>
                </a:solidFill>
                <a:latin typeface="Arial" pitchFamily="34" charset="0"/>
                <a:ea typeface="Arial" pitchFamily="34" charset="-122"/>
                <a:cs typeface="Arial" pitchFamily="34" charset="-120"/>
              </a:rPr>
              <a:t> labelled forms; validateForm() checks name and email before submit</a:t>
            </a:r>
            <a:endParaRPr lang="en-US" sz="1500" dirty="0"/>
          </a:p>
          <a:p>
            <a:pPr algn="l" marL="163830" indent="-163830">
              <a:lnSpc>
                <a:spcPts val="2100"/>
              </a:lnSpc>
              <a:buSzPct val="100000"/>
              <a:buChar char="•"/>
            </a:pPr>
            <a:r>
              <a:rPr lang="en-US" sz="1500" b="1" dirty="0">
                <a:solidFill>
                  <a:srgbClr val="E6EDF7"/>
                </a:solidFill>
                <a:latin typeface="Arial" pitchFamily="34" charset="0"/>
                <a:ea typeface="Arial" pitchFamily="34" charset="-122"/>
                <a:cs typeface="Arial" pitchFamily="34" charset="-120"/>
              </a:rPr>
              <a:t>Back end:</a:t>
            </a:r>
            <a:r>
              <a:rPr lang="en-US" sz="1500" dirty="0">
                <a:solidFill>
                  <a:srgbClr val="E6EDF7"/>
                </a:solidFill>
                <a:latin typeface="Arial" pitchFamily="34" charset="0"/>
                <a:ea typeface="Arial" pitchFamily="34" charset="-122"/>
                <a:cs typeface="Arial" pitchFamily="34" charset="-120"/>
              </a:rPr>
              <a:t> Employee model plus an EmployeeDAO that holds all SQL</a:t>
            </a:r>
            <a:endParaRPr lang="en-US" sz="1500" dirty="0"/>
          </a:p>
          <a:p>
            <a:pPr algn="l" marL="163830" indent="-163830">
              <a:lnSpc>
                <a:spcPts val="2100"/>
              </a:lnSpc>
              <a:buSzPct val="100000"/>
              <a:buChar char="•"/>
            </a:pPr>
            <a:r>
              <a:rPr lang="en-US" sz="1500" b="1" dirty="0">
                <a:solidFill>
                  <a:srgbClr val="E6EDF7"/>
                </a:solidFill>
                <a:latin typeface="Arial" pitchFamily="34" charset="0"/>
                <a:ea typeface="Arial" pitchFamily="34" charset="-122"/>
                <a:cs typeface="Arial" pitchFamily="34" charset="-120"/>
              </a:rPr>
              <a:t>MVC:</a:t>
            </a:r>
            <a:r>
              <a:rPr lang="en-US" sz="1500" dirty="0">
                <a:solidFill>
                  <a:srgbClr val="E6EDF7"/>
                </a:solidFill>
                <a:latin typeface="Arial" pitchFamily="34" charset="0"/>
                <a:ea typeface="Arial" pitchFamily="34" charset="-122"/>
                <a:cs typeface="Arial" pitchFamily="34" charset="-120"/>
              </a:rPr>
              <a:t> servlet controller selects the view and calls the model</a:t>
            </a:r>
            <a:endParaRPr lang="en-US" sz="1500" dirty="0"/>
          </a:p>
          <a:p>
            <a:pPr algn="l" marL="163830" indent="-163830">
              <a:lnSpc>
                <a:spcPts val="2100"/>
              </a:lnSpc>
              <a:buSzPct val="100000"/>
              <a:buChar char="•"/>
            </a:pPr>
            <a:r>
              <a:rPr lang="en-US" sz="1500" b="1" dirty="0">
                <a:solidFill>
                  <a:srgbClr val="E6EDF7"/>
                </a:solidFill>
                <a:latin typeface="Arial" pitchFamily="34" charset="0"/>
                <a:ea typeface="Arial" pitchFamily="34" charset="-122"/>
                <a:cs typeface="Arial" pitchFamily="34" charset="-120"/>
              </a:rPr>
              <a:t>PreparedStatement:</a:t>
            </a:r>
            <a:r>
              <a:rPr lang="en-US" sz="1500" dirty="0">
                <a:solidFill>
                  <a:srgbClr val="E6EDF7"/>
                </a:solidFill>
                <a:latin typeface="Arial" pitchFamily="34" charset="0"/>
                <a:ea typeface="Arial" pitchFamily="34" charset="-122"/>
                <a:cs typeface="Arial" pitchFamily="34" charset="-120"/>
              </a:rPr>
              <a:t> values are bound as data, which protects against SQL injection</a:t>
            </a:r>
            <a:endParaRPr lang="en-US" sz="1500" dirty="0"/>
          </a:p>
          <a:p>
            <a:pPr algn="l" marL="163830" indent="-163830">
              <a:lnSpc>
                <a:spcPts val="2100"/>
              </a:lnSpc>
              <a:buSzPct val="100000"/>
              <a:buChar char="•"/>
            </a:pPr>
            <a:r>
              <a:rPr lang="en-US" sz="1500" b="1" dirty="0">
                <a:solidFill>
                  <a:srgbClr val="E6EDF7"/>
                </a:solidFill>
                <a:latin typeface="Arial" pitchFamily="34" charset="0"/>
                <a:ea typeface="Arial" pitchFamily="34" charset="-122"/>
                <a:cs typeface="Arial" pitchFamily="34" charset="-120"/>
              </a:rPr>
              <a:t>Errors:</a:t>
            </a:r>
            <a:r>
              <a:rPr lang="en-US" sz="1500" dirty="0">
                <a:solidFill>
                  <a:srgbClr val="E6EDF7"/>
                </a:solidFill>
                <a:latin typeface="Arial" pitchFamily="34" charset="0"/>
                <a:ea typeface="Arial" pitchFamily="34" charset="-122"/>
                <a:cs typeface="Arial" pitchFamily="34" charset="-120"/>
              </a:rPr>
              <a:t> database exceptions, such as a duplicate ID, become clear user messages</a:t>
            </a:r>
            <a:endParaRPr lang="en-US" sz="1500" dirty="0"/>
          </a:p>
        </p:txBody>
      </p:sp>
      <p:sp>
        <p:nvSpPr>
          <p:cNvPr id="13" name="Text 11"/>
          <p:cNvSpPr/>
          <p:nvPr/>
        </p:nvSpPr>
        <p:spPr>
          <a:xfrm>
            <a:off x="812800" y="6255345"/>
            <a:ext cx="5886450"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C0"/>
                </a:solidFill>
                <a:latin typeface="Arial" pitchFamily="34" charset="0"/>
                <a:ea typeface="Arial" pitchFamily="34" charset="-122"/>
                <a:cs typeface="Arial" pitchFamily="34" charset="-120"/>
              </a:rPr>
              <a:t>Employee Management Analysis</a:t>
            </a:r>
            <a:endParaRPr lang="en-US" sz="1200" dirty="0"/>
          </a:p>
        </p:txBody>
      </p:sp>
      <p:sp>
        <p:nvSpPr>
          <p:cNvPr id="14" name="Text 12"/>
          <p:cNvSpPr/>
          <p:nvPr/>
        </p:nvSpPr>
        <p:spPr>
          <a:xfrm>
            <a:off x="9417050" y="6255345"/>
            <a:ext cx="1962150" cy="2216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3C0"/>
                </a:solidFill>
                <a:latin typeface="Arial" pitchFamily="34" charset="0"/>
                <a:ea typeface="Arial" pitchFamily="34" charset="-122"/>
                <a:cs typeface="Arial" pitchFamily="34" charset="-120"/>
              </a:rPr>
              <a:t>07 / 15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216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DD4BF"/>
                </a:solidFill>
                <a:latin typeface="Arial" pitchFamily="34" charset="0"/>
                <a:ea typeface="Arial" pitchFamily="34" charset="-122"/>
                <a:cs typeface="Arial" pitchFamily="34" charset="-120"/>
              </a:rPr>
              <a:t>DATABASE DESIGN</a:t>
            </a:r>
            <a:endParaRPr lang="en-US" sz="1200" dirty="0"/>
          </a:p>
        </p:txBody>
      </p:sp>
      <p:sp>
        <p:nvSpPr>
          <p:cNvPr id="3" name="Text 1"/>
          <p:cNvSpPr/>
          <p:nvPr>
            <p:ph type="title"/>
          </p:nvPr>
        </p:nvSpPr>
        <p:spPr>
          <a:xfrm>
            <a:off x="812800" y="1085255"/>
            <a:ext cx="10883392" cy="43666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6EDF7"/>
                </a:solidFill>
                <a:latin typeface="Arial" pitchFamily="34" charset="0"/>
                <a:ea typeface="Arial" pitchFamily="34" charset="-122"/>
                <a:cs typeface="Arial" pitchFamily="34" charset="-120"/>
              </a:rPr>
              <a:t>Three tables, one foreign key</a:t>
            </a:r>
            <a:endParaRPr lang="en-US" sz="3200" dirty="0"/>
          </a:p>
        </p:txBody>
      </p:sp>
      <p:sp>
        <p:nvSpPr>
          <p:cNvPr id="4" name="Shape 2"/>
          <p:cNvSpPr/>
          <p:nvPr/>
        </p:nvSpPr>
        <p:spPr>
          <a:xfrm>
            <a:off x="812800" y="1801316"/>
            <a:ext cx="6350000" cy="2381250"/>
          </a:xfrm>
          <a:prstGeom prst="roundRect">
            <a:avLst>
              <a:gd name="adj" fmla="val 3200"/>
            </a:avLst>
          </a:prstGeom>
          <a:solidFill>
            <a:srgbClr val="FFFFFF"/>
          </a:solidFill>
          <a:ln/>
        </p:spPr>
      </p:sp>
      <p:pic>
        <p:nvPicPr>
          <p:cNvPr id="5" name="Image 0" descr="Entity-relationship diagram: USERS, EMPLOYEE and DEPARTMENT, with many employees belonging to one department">    </p:cNvPr>
          <p:cNvPicPr>
            <a:picLocks noChangeAspect="1"/>
          </p:cNvPicPr>
          <p:nvPr/>
        </p:nvPicPr>
        <p:blipFill>
          <a:blip r:embed="rId1"/>
          <a:srcRect l="-98" r="-98" t="0" b="0"/>
          <a:stretch/>
        </p:blipFill>
        <p:spPr>
          <a:xfrm>
            <a:off x="819150" y="1807666"/>
            <a:ext cx="6337300" cy="2368550"/>
          </a:xfrm>
          <a:prstGeom prst="roundRect">
            <a:avLst>
              <a:gd name="adj" fmla="val 2949"/>
            </a:avLst>
          </a:prstGeom>
        </p:spPr>
      </p:pic>
      <p:sp>
        <p:nvSpPr>
          <p:cNvPr id="6" name="Shape 3"/>
          <p:cNvSpPr/>
          <p:nvPr/>
        </p:nvSpPr>
        <p:spPr>
          <a:xfrm>
            <a:off x="815975" y="1804491"/>
            <a:ext cx="6343650" cy="2374900"/>
          </a:xfrm>
          <a:prstGeom prst="roundRect">
            <a:avLst>
              <a:gd name="adj" fmla="val 3075"/>
            </a:avLst>
          </a:prstGeom>
          <a:noFill/>
          <a:ln w="6350">
            <a:solidFill>
              <a:srgbClr val="25324D"/>
            </a:solidFill>
            <a:prstDash val="solid"/>
          </a:ln>
        </p:spPr>
      </p:sp>
      <p:sp>
        <p:nvSpPr>
          <p:cNvPr id="7" name="Text 4"/>
          <p:cNvSpPr/>
          <p:nvPr/>
        </p:nvSpPr>
        <p:spPr>
          <a:xfrm>
            <a:off x="812800" y="4258766"/>
            <a:ext cx="6540500"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C0"/>
                </a:solidFill>
                <a:latin typeface="Arial" pitchFamily="34" charset="0"/>
                <a:ea typeface="Arial" pitchFamily="34" charset="-122"/>
                <a:cs typeface="Arial" pitchFamily="34" charset="-120"/>
              </a:rPr>
              <a:t>Figure 3.2: Entity-Relationship diagram</a:t>
            </a:r>
            <a:endParaRPr lang="en-US" sz="1200" dirty="0"/>
          </a:p>
        </p:txBody>
      </p:sp>
      <p:sp>
        <p:nvSpPr>
          <p:cNvPr id="8" name="Text 5"/>
          <p:cNvSpPr/>
          <p:nvPr/>
        </p:nvSpPr>
        <p:spPr>
          <a:xfrm>
            <a:off x="7520432" y="1801316"/>
            <a:ext cx="3970020" cy="1628031"/>
          </a:xfrm>
          <a:prstGeom prst="rect">
            <a:avLst/>
          </a:prstGeom>
          <a:noFill/>
          <a:ln/>
        </p:spPr>
        <p:txBody>
          <a:bodyPr wrap="square" lIns="0" tIns="0" rIns="0" bIns="0" rtlCol="0" anchor="t">
            <a:normAutofit/>
          </a:bodyPr>
          <a:lstStyle/>
          <a:p>
            <a:pPr algn="l" marL="150368" indent="-150368">
              <a:lnSpc>
                <a:spcPts val="1960"/>
              </a:lnSpc>
              <a:buSzPct val="100000"/>
              <a:buChar char="•"/>
            </a:pPr>
            <a:r>
              <a:rPr lang="en-US" sz="1400" b="1" dirty="0">
                <a:solidFill>
                  <a:srgbClr val="E6EDF7"/>
                </a:solidFill>
                <a:latin typeface="Arial" pitchFamily="34" charset="0"/>
                <a:ea typeface="Arial" pitchFamily="34" charset="-122"/>
                <a:cs typeface="Arial" pitchFamily="34" charset="-120"/>
              </a:rPr>
              <a:t>employee:</a:t>
            </a:r>
            <a:r>
              <a:rPr lang="en-US" sz="1400" dirty="0">
                <a:solidFill>
                  <a:srgbClr val="E6EDF7"/>
                </a:solidFill>
                <a:latin typeface="Arial" pitchFamily="34" charset="0"/>
                <a:ea typeface="Arial" pitchFamily="34" charset="-122"/>
                <a:cs typeface="Arial" pitchFamily="34" charset="-120"/>
              </a:rPr>
              <a:t> primary key employee_id; email UNIQUE NOT NULL; status defaults to ACTIVE</a:t>
            </a:r>
            <a:endParaRPr lang="en-US" sz="1400" dirty="0"/>
          </a:p>
          <a:p>
            <a:pPr algn="l" marL="150368" indent="-150368">
              <a:lnSpc>
                <a:spcPts val="1960"/>
              </a:lnSpc>
              <a:buSzPct val="100000"/>
              <a:buChar char="•"/>
            </a:pPr>
            <a:r>
              <a:rPr lang="en-US" sz="1400" b="1" dirty="0">
                <a:solidFill>
                  <a:srgbClr val="E6EDF7"/>
                </a:solidFill>
                <a:latin typeface="Arial" pitchFamily="34" charset="0"/>
                <a:ea typeface="Arial" pitchFamily="34" charset="-122"/>
                <a:cs typeface="Arial" pitchFamily="34" charset="-120"/>
              </a:rPr>
              <a:t>department:</a:t>
            </a:r>
            <a:r>
              <a:rPr lang="en-US" sz="1400" dirty="0">
                <a:solidFill>
                  <a:srgbClr val="E6EDF7"/>
                </a:solidFill>
                <a:latin typeface="Arial" pitchFamily="34" charset="0"/>
                <a:ea typeface="Arial" pitchFamily="34" charset="-122"/>
                <a:cs typeface="Arial" pitchFamily="34" charset="-120"/>
              </a:rPr>
              <a:t> department_name UNIQUE NOT NULL</a:t>
            </a:r>
            <a:endParaRPr lang="en-US" sz="1400" dirty="0"/>
          </a:p>
          <a:p>
            <a:pPr algn="l" marL="150368" indent="-150368">
              <a:lnSpc>
                <a:spcPts val="1960"/>
              </a:lnSpc>
              <a:buSzPct val="100000"/>
              <a:buChar char="•"/>
            </a:pPr>
            <a:r>
              <a:rPr lang="en-US" sz="1400" b="1" dirty="0">
                <a:solidFill>
                  <a:srgbClr val="E6EDF7"/>
                </a:solidFill>
                <a:latin typeface="Arial" pitchFamily="34" charset="0"/>
                <a:ea typeface="Arial" pitchFamily="34" charset="-122"/>
                <a:cs typeface="Arial" pitchFamily="34" charset="-120"/>
              </a:rPr>
              <a:t>Foreign key</a:t>
            </a:r>
            <a:r>
              <a:rPr lang="en-US" sz="1400" dirty="0">
                <a:solidFill>
                  <a:srgbClr val="E6EDF7"/>
                </a:solidFill>
                <a:latin typeface="Arial" pitchFamily="34" charset="0"/>
                <a:ea typeface="Arial" pitchFamily="34" charset="-122"/>
                <a:cs typeface="Arial" pitchFamily="34" charset="-120"/>
              </a:rPr>
              <a:t> department_id: no employee can join a department that does not exist</a:t>
            </a:r>
            <a:endParaRPr lang="en-US" sz="1400" dirty="0"/>
          </a:p>
          <a:p>
            <a:pPr algn="l" marL="150368" indent="-150368">
              <a:lnSpc>
                <a:spcPts val="1960"/>
              </a:lnSpc>
              <a:buSzPct val="100000"/>
              <a:buChar char="•"/>
            </a:pPr>
            <a:r>
              <a:rPr lang="en-US" sz="1400" b="1" dirty="0">
                <a:solidFill>
                  <a:srgbClr val="E6EDF7"/>
                </a:solidFill>
                <a:latin typeface="Arial" pitchFamily="34" charset="0"/>
                <a:ea typeface="Arial" pitchFamily="34" charset="-122"/>
                <a:cs typeface="Arial" pitchFamily="34" charset="-120"/>
              </a:rPr>
              <a:t>users:</a:t>
            </a:r>
            <a:r>
              <a:rPr lang="en-US" sz="1400" dirty="0">
                <a:solidFill>
                  <a:srgbClr val="E6EDF7"/>
                </a:solidFill>
                <a:latin typeface="Arial" pitchFamily="34" charset="0"/>
                <a:ea typeface="Arial" pitchFamily="34" charset="-122"/>
                <a:cs typeface="Arial" pitchFamily="34" charset="-120"/>
              </a:rPr>
              <a:t> login accounts with role ADMIN or VIEWER</a:t>
            </a:r>
            <a:endParaRPr lang="en-US" sz="1400" dirty="0"/>
          </a:p>
        </p:txBody>
      </p:sp>
      <p:sp>
        <p:nvSpPr>
          <p:cNvPr id="9" name="Text 6"/>
          <p:cNvSpPr/>
          <p:nvPr/>
        </p:nvSpPr>
        <p:spPr>
          <a:xfrm>
            <a:off x="812800" y="6255345"/>
            <a:ext cx="5886450"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C0"/>
                </a:solidFill>
                <a:latin typeface="Arial" pitchFamily="34" charset="0"/>
                <a:ea typeface="Arial" pitchFamily="34" charset="-122"/>
                <a:cs typeface="Arial" pitchFamily="34" charset="-120"/>
              </a:rPr>
              <a:t>Employee Management Analysis</a:t>
            </a:r>
            <a:endParaRPr lang="en-US" sz="1200" dirty="0"/>
          </a:p>
        </p:txBody>
      </p:sp>
      <p:sp>
        <p:nvSpPr>
          <p:cNvPr id="10" name="Text 7"/>
          <p:cNvSpPr/>
          <p:nvPr/>
        </p:nvSpPr>
        <p:spPr>
          <a:xfrm>
            <a:off x="9417050" y="6255345"/>
            <a:ext cx="1962150" cy="2216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3C0"/>
                </a:solidFill>
                <a:latin typeface="Arial" pitchFamily="34" charset="0"/>
                <a:ea typeface="Arial" pitchFamily="34" charset="-122"/>
                <a:cs typeface="Arial" pitchFamily="34" charset="-120"/>
              </a:rPr>
              <a:t>08 / 15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216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DD4BF"/>
                </a:solidFill>
                <a:latin typeface="Arial" pitchFamily="34" charset="0"/>
                <a:ea typeface="Arial" pitchFamily="34" charset="-122"/>
                <a:cs typeface="Arial" pitchFamily="34" charset="-120"/>
              </a:rPr>
              <a:t>SQL OPERATIONS</a:t>
            </a:r>
            <a:endParaRPr lang="en-US" sz="1200" dirty="0"/>
          </a:p>
        </p:txBody>
      </p:sp>
      <p:sp>
        <p:nvSpPr>
          <p:cNvPr id="3" name="Text 1"/>
          <p:cNvSpPr/>
          <p:nvPr>
            <p:ph type="title"/>
          </p:nvPr>
        </p:nvSpPr>
        <p:spPr>
          <a:xfrm>
            <a:off x="812800" y="1085255"/>
            <a:ext cx="10883392" cy="43666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6EDF7"/>
                </a:solidFill>
                <a:latin typeface="Arial" pitchFamily="34" charset="0"/>
                <a:ea typeface="Arial" pitchFamily="34" charset="-122"/>
                <a:cs typeface="Arial" pitchFamily="34" charset="-120"/>
              </a:rPr>
              <a:t>CRUD, grouping and joins</a:t>
            </a:r>
            <a:endParaRPr lang="en-US" sz="3200" dirty="0"/>
          </a:p>
        </p:txBody>
      </p:sp>
      <p:sp>
        <p:nvSpPr>
          <p:cNvPr id="4" name="Shape 2"/>
          <p:cNvSpPr/>
          <p:nvPr/>
        </p:nvSpPr>
        <p:spPr>
          <a:xfrm>
            <a:off x="812800" y="1750516"/>
            <a:ext cx="5181600" cy="1399877"/>
          </a:xfrm>
          <a:prstGeom prst="roundRect">
            <a:avLst>
              <a:gd name="adj" fmla="val 7258"/>
            </a:avLst>
          </a:prstGeom>
          <a:solidFill>
            <a:srgbClr val="1A2640"/>
          </a:solidFill>
          <a:ln/>
        </p:spPr>
      </p:sp>
      <p:sp>
        <p:nvSpPr>
          <p:cNvPr id="5" name="Text 3"/>
          <p:cNvSpPr/>
          <p:nvPr/>
        </p:nvSpPr>
        <p:spPr>
          <a:xfrm>
            <a:off x="1066800" y="1953716"/>
            <a:ext cx="4813808" cy="27771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DD4BF"/>
                </a:solidFill>
                <a:latin typeface="Arial" pitchFamily="34" charset="0"/>
                <a:ea typeface="Arial" pitchFamily="34" charset="-122"/>
                <a:cs typeface="Arial" pitchFamily="34" charset="-120"/>
              </a:rPr>
              <a:t>Create and read</a:t>
            </a:r>
            <a:endParaRPr lang="en-US" sz="1800" dirty="0"/>
          </a:p>
        </p:txBody>
      </p:sp>
      <p:sp>
        <p:nvSpPr>
          <p:cNvPr id="6" name="Text 4"/>
          <p:cNvSpPr/>
          <p:nvPr/>
        </p:nvSpPr>
        <p:spPr>
          <a:xfrm>
            <a:off x="1066800" y="2256830"/>
            <a:ext cx="4813808"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Courier New" pitchFamily="49" charset="0"/>
                <a:ea typeface="Courier New" pitchFamily="49" charset="-122"/>
                <a:cs typeface="Courier New" pitchFamily="49" charset="-120"/>
              </a:rPr>
              <a:t>INSERT INTO employee VALUES (…);</a:t>
            </a:r>
            <a:endParaRPr lang="en-US" sz="1200" dirty="0"/>
          </a:p>
        </p:txBody>
      </p:sp>
      <p:sp>
        <p:nvSpPr>
          <p:cNvPr id="7" name="Text 5"/>
          <p:cNvSpPr/>
          <p:nvPr/>
        </p:nvSpPr>
        <p:spPr>
          <a:xfrm>
            <a:off x="1066800" y="2503884"/>
            <a:ext cx="4813808"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Courier New" pitchFamily="49" charset="0"/>
                <a:ea typeface="Courier New" pitchFamily="49" charset="-122"/>
                <a:cs typeface="Courier New" pitchFamily="49" charset="-120"/>
              </a:rPr>
              <a:t>SELECT * FROM employee</a:t>
            </a:r>
            <a:endParaRPr lang="en-US" sz="1200" dirty="0"/>
          </a:p>
        </p:txBody>
      </p:sp>
      <p:sp>
        <p:nvSpPr>
          <p:cNvPr id="8" name="Text 6"/>
          <p:cNvSpPr/>
          <p:nvPr/>
        </p:nvSpPr>
        <p:spPr>
          <a:xfrm>
            <a:off x="1066800" y="2750939"/>
            <a:ext cx="4813808"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Courier New" pitchFamily="49" charset="0"/>
                <a:ea typeface="Courier New" pitchFamily="49" charset="-122"/>
                <a:cs typeface="Courier New" pitchFamily="49" charset="-120"/>
              </a:rPr>
              <a:t>WHERE department_id = 1;</a:t>
            </a:r>
            <a:endParaRPr lang="en-US" sz="1200" dirty="0"/>
          </a:p>
        </p:txBody>
      </p:sp>
      <p:sp>
        <p:nvSpPr>
          <p:cNvPr id="9" name="Shape 7"/>
          <p:cNvSpPr/>
          <p:nvPr/>
        </p:nvSpPr>
        <p:spPr>
          <a:xfrm>
            <a:off x="6197600" y="1750516"/>
            <a:ext cx="5181600" cy="1399877"/>
          </a:xfrm>
          <a:prstGeom prst="roundRect">
            <a:avLst>
              <a:gd name="adj" fmla="val 7258"/>
            </a:avLst>
          </a:prstGeom>
          <a:solidFill>
            <a:srgbClr val="1A2640"/>
          </a:solidFill>
          <a:ln/>
        </p:spPr>
      </p:sp>
      <p:sp>
        <p:nvSpPr>
          <p:cNvPr id="10" name="Text 8"/>
          <p:cNvSpPr/>
          <p:nvPr/>
        </p:nvSpPr>
        <p:spPr>
          <a:xfrm>
            <a:off x="6451600" y="1953716"/>
            <a:ext cx="4813808" cy="27771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DD4BF"/>
                </a:solidFill>
                <a:latin typeface="Arial" pitchFamily="34" charset="0"/>
                <a:ea typeface="Arial" pitchFamily="34" charset="-122"/>
                <a:cs typeface="Arial" pitchFamily="34" charset="-120"/>
              </a:rPr>
              <a:t>Update and delete</a:t>
            </a:r>
            <a:endParaRPr lang="en-US" sz="1800" dirty="0"/>
          </a:p>
        </p:txBody>
      </p:sp>
      <p:sp>
        <p:nvSpPr>
          <p:cNvPr id="11" name="Text 9"/>
          <p:cNvSpPr/>
          <p:nvPr/>
        </p:nvSpPr>
        <p:spPr>
          <a:xfrm>
            <a:off x="6451600" y="2256830"/>
            <a:ext cx="4813808"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Courier New" pitchFamily="49" charset="0"/>
                <a:ea typeface="Courier New" pitchFamily="49" charset="-122"/>
                <a:cs typeface="Courier New" pitchFamily="49" charset="-120"/>
              </a:rPr>
              <a:t>UPDATE employee SET designation =</a:t>
            </a:r>
            <a:endParaRPr lang="en-US" sz="1200" dirty="0"/>
          </a:p>
        </p:txBody>
      </p:sp>
      <p:sp>
        <p:nvSpPr>
          <p:cNvPr id="12" name="Text 10"/>
          <p:cNvSpPr/>
          <p:nvPr/>
        </p:nvSpPr>
        <p:spPr>
          <a:xfrm>
            <a:off x="6451600" y="2503884"/>
            <a:ext cx="4813808"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Courier New" pitchFamily="49" charset="0"/>
                <a:ea typeface="Courier New" pitchFamily="49" charset="-122"/>
                <a:cs typeface="Courier New" pitchFamily="49" charset="-120"/>
              </a:rPr>
              <a:t>'Senior Developer' WHERE employee_id = 1;</a:t>
            </a:r>
            <a:endParaRPr lang="en-US" sz="1200" dirty="0"/>
          </a:p>
        </p:txBody>
      </p:sp>
      <p:sp>
        <p:nvSpPr>
          <p:cNvPr id="13" name="Text 11"/>
          <p:cNvSpPr/>
          <p:nvPr/>
        </p:nvSpPr>
        <p:spPr>
          <a:xfrm>
            <a:off x="6451600" y="2750939"/>
            <a:ext cx="4813808"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Courier New" pitchFamily="49" charset="0"/>
                <a:ea typeface="Courier New" pitchFamily="49" charset="-122"/>
                <a:cs typeface="Courier New" pitchFamily="49" charset="-120"/>
              </a:rPr>
              <a:t>DELETE FROM employee WHERE employee_id = 1;</a:t>
            </a:r>
            <a:endParaRPr lang="en-US" sz="1200" dirty="0"/>
          </a:p>
        </p:txBody>
      </p:sp>
      <p:sp>
        <p:nvSpPr>
          <p:cNvPr id="14" name="Shape 12"/>
          <p:cNvSpPr/>
          <p:nvPr/>
        </p:nvSpPr>
        <p:spPr>
          <a:xfrm>
            <a:off x="812800" y="3353594"/>
            <a:ext cx="5181600" cy="1399877"/>
          </a:xfrm>
          <a:prstGeom prst="roundRect">
            <a:avLst>
              <a:gd name="adj" fmla="val 7258"/>
            </a:avLst>
          </a:prstGeom>
          <a:solidFill>
            <a:srgbClr val="1A2640"/>
          </a:solidFill>
          <a:ln/>
        </p:spPr>
      </p:sp>
      <p:sp>
        <p:nvSpPr>
          <p:cNvPr id="15" name="Text 13"/>
          <p:cNvSpPr/>
          <p:nvPr/>
        </p:nvSpPr>
        <p:spPr>
          <a:xfrm>
            <a:off x="1066800" y="3556794"/>
            <a:ext cx="4813808" cy="27771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DD4BF"/>
                </a:solidFill>
                <a:latin typeface="Arial" pitchFamily="34" charset="0"/>
                <a:ea typeface="Arial" pitchFamily="34" charset="-122"/>
                <a:cs typeface="Arial" pitchFamily="34" charset="-120"/>
              </a:rPr>
              <a:t>Aggregation report</a:t>
            </a:r>
            <a:endParaRPr lang="en-US" sz="1800" dirty="0"/>
          </a:p>
        </p:txBody>
      </p:sp>
      <p:sp>
        <p:nvSpPr>
          <p:cNvPr id="16" name="Text 14"/>
          <p:cNvSpPr/>
          <p:nvPr/>
        </p:nvSpPr>
        <p:spPr>
          <a:xfrm>
            <a:off x="1066800" y="3859907"/>
            <a:ext cx="4813808"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Courier New" pitchFamily="49" charset="0"/>
                <a:ea typeface="Courier New" pitchFamily="49" charset="-122"/>
                <a:cs typeface="Courier New" pitchFamily="49" charset="-120"/>
              </a:rPr>
              <a:t>SELECT department_id,</a:t>
            </a:r>
            <a:endParaRPr lang="en-US" sz="1200" dirty="0"/>
          </a:p>
        </p:txBody>
      </p:sp>
      <p:sp>
        <p:nvSpPr>
          <p:cNvPr id="17" name="Text 15"/>
          <p:cNvSpPr/>
          <p:nvPr/>
        </p:nvSpPr>
        <p:spPr>
          <a:xfrm>
            <a:off x="1066800" y="4106962"/>
            <a:ext cx="4813808"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Courier New" pitchFamily="49" charset="0"/>
                <a:ea typeface="Courier New" pitchFamily="49" charset="-122"/>
                <a:cs typeface="Courier New" pitchFamily="49" charset="-120"/>
              </a:rPr>
              <a:t>COUNT(*) AS total_employees</a:t>
            </a:r>
            <a:endParaRPr lang="en-US" sz="1200" dirty="0"/>
          </a:p>
        </p:txBody>
      </p:sp>
      <p:sp>
        <p:nvSpPr>
          <p:cNvPr id="18" name="Text 16"/>
          <p:cNvSpPr/>
          <p:nvPr/>
        </p:nvSpPr>
        <p:spPr>
          <a:xfrm>
            <a:off x="1066800" y="4354016"/>
            <a:ext cx="4813808"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Courier New" pitchFamily="49" charset="0"/>
                <a:ea typeface="Courier New" pitchFamily="49" charset="-122"/>
                <a:cs typeface="Courier New" pitchFamily="49" charset="-120"/>
              </a:rPr>
              <a:t>FROM employee GROUP BY department_id;</a:t>
            </a:r>
            <a:endParaRPr lang="en-US" sz="1200" dirty="0"/>
          </a:p>
        </p:txBody>
      </p:sp>
      <p:sp>
        <p:nvSpPr>
          <p:cNvPr id="19" name="Shape 17"/>
          <p:cNvSpPr/>
          <p:nvPr/>
        </p:nvSpPr>
        <p:spPr>
          <a:xfrm>
            <a:off x="6197600" y="3353594"/>
            <a:ext cx="5181600" cy="1399877"/>
          </a:xfrm>
          <a:prstGeom prst="roundRect">
            <a:avLst>
              <a:gd name="adj" fmla="val 7258"/>
            </a:avLst>
          </a:prstGeom>
          <a:solidFill>
            <a:srgbClr val="1A2640"/>
          </a:solidFill>
          <a:ln/>
        </p:spPr>
      </p:sp>
      <p:sp>
        <p:nvSpPr>
          <p:cNvPr id="20" name="Text 18"/>
          <p:cNvSpPr/>
          <p:nvPr/>
        </p:nvSpPr>
        <p:spPr>
          <a:xfrm>
            <a:off x="6451600" y="3556794"/>
            <a:ext cx="4813808" cy="27771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DD4BF"/>
                </a:solidFill>
                <a:latin typeface="Arial" pitchFamily="34" charset="0"/>
                <a:ea typeface="Arial" pitchFamily="34" charset="-122"/>
                <a:cs typeface="Arial" pitchFamily="34" charset="-120"/>
              </a:rPr>
              <a:t>Relational query</a:t>
            </a:r>
            <a:endParaRPr lang="en-US" sz="1800" dirty="0"/>
          </a:p>
        </p:txBody>
      </p:sp>
      <p:sp>
        <p:nvSpPr>
          <p:cNvPr id="21" name="Text 19"/>
          <p:cNvSpPr/>
          <p:nvPr/>
        </p:nvSpPr>
        <p:spPr>
          <a:xfrm>
            <a:off x="6451600" y="3859907"/>
            <a:ext cx="4813808"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Courier New" pitchFamily="49" charset="0"/>
                <a:ea typeface="Courier New" pitchFamily="49" charset="-122"/>
                <a:cs typeface="Courier New" pitchFamily="49" charset="-120"/>
              </a:rPr>
              <a:t>SELECT e.employee_name, d.department_name</a:t>
            </a:r>
            <a:endParaRPr lang="en-US" sz="1200" dirty="0"/>
          </a:p>
        </p:txBody>
      </p:sp>
      <p:sp>
        <p:nvSpPr>
          <p:cNvPr id="22" name="Text 20"/>
          <p:cNvSpPr/>
          <p:nvPr/>
        </p:nvSpPr>
        <p:spPr>
          <a:xfrm>
            <a:off x="6451600" y="4106962"/>
            <a:ext cx="4813808"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Courier New" pitchFamily="49" charset="0"/>
                <a:ea typeface="Courier New" pitchFamily="49" charset="-122"/>
                <a:cs typeface="Courier New" pitchFamily="49" charset="-120"/>
              </a:rPr>
              <a:t>FROM employee e INNER JOIN department d</a:t>
            </a:r>
            <a:endParaRPr lang="en-US" sz="1200" dirty="0"/>
          </a:p>
        </p:txBody>
      </p:sp>
      <p:sp>
        <p:nvSpPr>
          <p:cNvPr id="23" name="Text 21"/>
          <p:cNvSpPr/>
          <p:nvPr/>
        </p:nvSpPr>
        <p:spPr>
          <a:xfrm>
            <a:off x="6451600" y="4354016"/>
            <a:ext cx="4813808"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EDF7"/>
                </a:solidFill>
                <a:latin typeface="Courier New" pitchFamily="49" charset="0"/>
                <a:ea typeface="Courier New" pitchFamily="49" charset="-122"/>
                <a:cs typeface="Courier New" pitchFamily="49" charset="-120"/>
              </a:rPr>
              <a:t>ON e.department_id = d.department_id;</a:t>
            </a:r>
            <a:endParaRPr lang="en-US" sz="1200" dirty="0"/>
          </a:p>
        </p:txBody>
      </p:sp>
      <p:sp>
        <p:nvSpPr>
          <p:cNvPr id="24" name="Text 22"/>
          <p:cNvSpPr/>
          <p:nvPr/>
        </p:nvSpPr>
        <p:spPr>
          <a:xfrm>
            <a:off x="812800" y="6255345"/>
            <a:ext cx="5886450"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C0"/>
                </a:solidFill>
                <a:latin typeface="Arial" pitchFamily="34" charset="0"/>
                <a:ea typeface="Arial" pitchFamily="34" charset="-122"/>
                <a:cs typeface="Arial" pitchFamily="34" charset="-120"/>
              </a:rPr>
              <a:t>Employee Management Analysis</a:t>
            </a:r>
            <a:endParaRPr lang="en-US" sz="1200" dirty="0"/>
          </a:p>
        </p:txBody>
      </p:sp>
      <p:sp>
        <p:nvSpPr>
          <p:cNvPr id="25" name="Text 23"/>
          <p:cNvSpPr/>
          <p:nvPr/>
        </p:nvSpPr>
        <p:spPr>
          <a:xfrm>
            <a:off x="9417050" y="6255345"/>
            <a:ext cx="1962150" cy="2216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3C0"/>
                </a:solidFill>
                <a:latin typeface="Arial" pitchFamily="34" charset="0"/>
                <a:ea typeface="Arial" pitchFamily="34" charset="-122"/>
                <a:cs typeface="Arial" pitchFamily="34" charset="-120"/>
              </a:rPr>
              <a:t>09 / 15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216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DD4BF"/>
                </a:solidFill>
                <a:latin typeface="Arial" pitchFamily="34" charset="0"/>
                <a:ea typeface="Arial" pitchFamily="34" charset="-122"/>
                <a:cs typeface="Arial" pitchFamily="34" charset="-120"/>
              </a:rPr>
              <a:t>SECURITY AND ROLE-BASED ACCESS</a:t>
            </a:r>
            <a:endParaRPr lang="en-US" sz="1200" dirty="0"/>
          </a:p>
        </p:txBody>
      </p:sp>
      <p:sp>
        <p:nvSpPr>
          <p:cNvPr id="3" name="Text 1"/>
          <p:cNvSpPr/>
          <p:nvPr>
            <p:ph type="title"/>
          </p:nvPr>
        </p:nvSpPr>
        <p:spPr>
          <a:xfrm>
            <a:off x="812800" y="1085255"/>
            <a:ext cx="10883392" cy="43666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6EDF7"/>
                </a:solidFill>
                <a:latin typeface="Arial" pitchFamily="34" charset="0"/>
                <a:ea typeface="Arial" pitchFamily="34" charset="-122"/>
                <a:cs typeface="Arial" pitchFamily="34" charset="-120"/>
              </a:rPr>
              <a:t>Least privilege for every role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3216"/>
          <a:ext cx="10553700" cy="2348508"/>
        </p:xfrm>
        <a:graphic>
          <a:graphicData uri="http://schemas.openxmlformats.org/drawingml/2006/table">
            <a:tbl>
              <a:tblPr/>
              <a:tblGrid>
                <a:gridCol w="6332220"/>
                <a:gridCol w="2110740"/>
                <a:gridCol w="2110740"/>
              </a:tblGrid>
              <a:tr h="391418">
                <a:tc>
                  <a:txBody>
                    <a:bodyPr/>
                    <a:lstStyle/>
                    <a:p>
                      <a:pPr indent="0" marL="0">
                        <a:lnSpc>
                          <a:spcPts val="2100"/>
                        </a:lnSpc>
                        <a:buNone/>
                      </a:pPr>
                      <a:r>
                        <a:rPr lang="en-US" sz="1500" b="1" dirty="0">
                          <a:solidFill>
                            <a:srgbClr val="E6EDF7"/>
                          </a:solidFill>
                          <a:latin typeface="Arial" pitchFamily="34" charset="0"/>
                          <a:ea typeface="Arial" pitchFamily="34" charset="-122"/>
                          <a:cs typeface="Arial" pitchFamily="34" charset="-120"/>
                        </a:rPr>
                        <a:t>Operation</a:t>
                      </a:r>
                      <a:endParaRPr lang="en-US" sz="1500" dirty="0">
                        <a:latin typeface="Arial" charset="0"/>
                        <a:ea typeface="Arial" charset="0"/>
                        <a:cs typeface="Arial" charset="0"/>
                      </a:endParaRPr>
                    </a:p>
                  </a:txBody>
                  <a:tcPr marL="66675" marR="66675" marT="66675" marB="66675" anchor="t">
                    <a:lnL w="12700" cap="flat" cmpd="sng" algn="ctr">
                      <a:solidFill>
                        <a:srgbClr val="40454F"/>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c>
                  <a:txBody>
                    <a:bodyPr/>
                    <a:lstStyle/>
                    <a:p>
                      <a:pPr algn="ctr" indent="0" marL="0">
                        <a:lnSpc>
                          <a:spcPts val="2100"/>
                        </a:lnSpc>
                        <a:buNone/>
                      </a:pPr>
                      <a:r>
                        <a:rPr lang="en-US" sz="1500" b="1" dirty="0">
                          <a:solidFill>
                            <a:srgbClr val="E6EDF7"/>
                          </a:solidFill>
                          <a:latin typeface="Arial" pitchFamily="34" charset="0"/>
                          <a:ea typeface="Arial" pitchFamily="34" charset="-122"/>
                          <a:cs typeface="Arial" pitchFamily="34" charset="-120"/>
                        </a:rPr>
                        <a:t>Admin</a:t>
                      </a:r>
                      <a:endParaRPr lang="en-US" sz="1500" dirty="0">
                        <a:latin typeface="Arial" charset="0"/>
                        <a:ea typeface="Arial" charset="0"/>
                        <a:cs typeface="Arial" charset="0"/>
                      </a:endParaRPr>
                    </a:p>
                  </a:txBody>
                  <a:tcPr marL="66675" marR="66675" marT="66675" marB="66675" anchor="t">
                    <a:lnL w="12700" cap="flat" cmpd="sng" algn="ctr">
                      <a:solidFill>
                        <a:srgbClr val="4E535C"/>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c>
                  <a:txBody>
                    <a:bodyPr/>
                    <a:lstStyle/>
                    <a:p>
                      <a:pPr algn="ctr" indent="0" marL="0">
                        <a:lnSpc>
                          <a:spcPts val="2100"/>
                        </a:lnSpc>
                        <a:buNone/>
                      </a:pPr>
                      <a:r>
                        <a:rPr lang="en-US" sz="1500" b="1" dirty="0">
                          <a:solidFill>
                            <a:srgbClr val="E6EDF7"/>
                          </a:solidFill>
                          <a:latin typeface="Arial" pitchFamily="34" charset="0"/>
                          <a:ea typeface="Arial" pitchFamily="34" charset="-122"/>
                          <a:cs typeface="Arial" pitchFamily="34" charset="-120"/>
                        </a:rPr>
                        <a:t>Viewer</a:t>
                      </a:r>
                      <a:endParaRPr lang="en-US" sz="1500" dirty="0">
                        <a:latin typeface="Arial" charset="0"/>
                        <a:ea typeface="Arial" charset="0"/>
                        <a:cs typeface="Arial" charset="0"/>
                      </a:endParaRPr>
                    </a:p>
                  </a:txBody>
                  <a:tcPr marL="66675" marR="66675" marT="66675" marB="66675" anchor="t">
                    <a:lnL w="12700" cap="flat" cmpd="sng" algn="ctr">
                      <a:solidFill>
                        <a:srgbClr val="4E535C"/>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r>
              <a:tr h="391418">
                <a:tc>
                  <a:txBody>
                    <a:bodyPr/>
                    <a:lstStyle/>
                    <a:p>
                      <a:pPr indent="0" marL="0">
                        <a:lnSpc>
                          <a:spcPts val="2100"/>
                        </a:lnSpc>
                        <a:buNone/>
                      </a:pPr>
                      <a:r>
                        <a:rPr lang="en-US" sz="1500" dirty="0">
                          <a:solidFill>
                            <a:srgbClr val="E6EDF7"/>
                          </a:solidFill>
                          <a:latin typeface="Arial" pitchFamily="34" charset="0"/>
                          <a:ea typeface="Arial" pitchFamily="34" charset="-122"/>
                          <a:cs typeface="Arial" pitchFamily="34" charset="-120"/>
                        </a:rPr>
                        <a:t>Login, logout</a:t>
                      </a:r>
                      <a:endParaRPr lang="en-US" sz="1500" dirty="0">
                        <a:latin typeface="Arial" charset="0"/>
                        <a:ea typeface="Arial" charset="0"/>
                        <a:cs typeface="Arial" charset="0"/>
                      </a:endParaRPr>
                    </a:p>
                  </a:txBody>
                  <a:tcPr marL="66675" marR="66675" marT="66675" marB="6667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algn="ctr" indent="0" marL="0">
                        <a:lnSpc>
                          <a:spcPts val="2100"/>
                        </a:lnSpc>
                        <a:buNone/>
                      </a:pPr>
                      <a:r>
                        <a:rPr lang="en-US" sz="1500" dirty="0">
                          <a:solidFill>
                            <a:srgbClr val="E6EDF7"/>
                          </a:solidFill>
                          <a:latin typeface="Arial" pitchFamily="34" charset="0"/>
                          <a:ea typeface="Arial" pitchFamily="34" charset="-122"/>
                          <a:cs typeface="Arial" pitchFamily="34" charset="-120"/>
                        </a:rPr>
                        <a:t>Yes</a:t>
                      </a:r>
                      <a:endParaRPr lang="en-US" sz="1500" dirty="0">
                        <a:latin typeface="Arial" charset="0"/>
                        <a:ea typeface="Arial" charset="0"/>
                        <a:cs typeface="Arial" charset="0"/>
                      </a:endParaRPr>
                    </a:p>
                  </a:txBody>
                  <a:tcPr marL="66675" marR="66675" marT="66675" marB="6667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algn="ctr" indent="0" marL="0">
                        <a:lnSpc>
                          <a:spcPts val="2100"/>
                        </a:lnSpc>
                        <a:buNone/>
                      </a:pPr>
                      <a:r>
                        <a:rPr lang="en-US" sz="1500" dirty="0">
                          <a:solidFill>
                            <a:srgbClr val="E6EDF7"/>
                          </a:solidFill>
                          <a:latin typeface="Arial" pitchFamily="34" charset="0"/>
                          <a:ea typeface="Arial" pitchFamily="34" charset="-122"/>
                          <a:cs typeface="Arial" pitchFamily="34" charset="-120"/>
                        </a:rPr>
                        <a:t>Yes</a:t>
                      </a:r>
                      <a:endParaRPr lang="en-US" sz="1500" dirty="0">
                        <a:latin typeface="Arial" charset="0"/>
                        <a:ea typeface="Arial" charset="0"/>
                        <a:cs typeface="Arial" charset="0"/>
                      </a:endParaRPr>
                    </a:p>
                  </a:txBody>
                  <a:tcPr marL="66675" marR="66675" marT="66675" marB="6667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91418">
                <a:tc>
                  <a:txBody>
                    <a:bodyPr/>
                    <a:lstStyle/>
                    <a:p>
                      <a:pPr indent="0" marL="0">
                        <a:lnSpc>
                          <a:spcPts val="2100"/>
                        </a:lnSpc>
                        <a:buNone/>
                      </a:pPr>
                      <a:r>
                        <a:rPr lang="en-US" sz="1500" dirty="0">
                          <a:solidFill>
                            <a:srgbClr val="E6EDF7"/>
                          </a:solidFill>
                          <a:latin typeface="Arial" pitchFamily="34" charset="0"/>
                          <a:ea typeface="Arial" pitchFamily="34" charset="-122"/>
                          <a:cs typeface="Arial" pitchFamily="34" charset="-120"/>
                        </a:rPr>
                        <a:t>View list, search, department report</a:t>
                      </a:r>
                      <a:endParaRPr lang="en-US" sz="1500" dirty="0">
                        <a:latin typeface="Arial" charset="0"/>
                        <a:ea typeface="Arial" charset="0"/>
                        <a:cs typeface="Arial" charset="0"/>
                      </a:endParaRPr>
                    </a:p>
                  </a:txBody>
                  <a:tcPr marL="66675" marR="66675" marT="66675" marB="6667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algn="ctr" indent="0" marL="0">
                        <a:lnSpc>
                          <a:spcPts val="2100"/>
                        </a:lnSpc>
                        <a:buNone/>
                      </a:pPr>
                      <a:r>
                        <a:rPr lang="en-US" sz="1500" dirty="0">
                          <a:solidFill>
                            <a:srgbClr val="E6EDF7"/>
                          </a:solidFill>
                          <a:latin typeface="Arial" pitchFamily="34" charset="0"/>
                          <a:ea typeface="Arial" pitchFamily="34" charset="-122"/>
                          <a:cs typeface="Arial" pitchFamily="34" charset="-120"/>
                        </a:rPr>
                        <a:t>Yes</a:t>
                      </a:r>
                      <a:endParaRPr lang="en-US" sz="1500" dirty="0">
                        <a:latin typeface="Arial" charset="0"/>
                        <a:ea typeface="Arial" charset="0"/>
                        <a:cs typeface="Arial" charset="0"/>
                      </a:endParaRPr>
                    </a:p>
                  </a:txBody>
                  <a:tcPr marL="66675" marR="66675" marT="66675" marB="6667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algn="ctr" indent="0" marL="0">
                        <a:lnSpc>
                          <a:spcPts val="2100"/>
                        </a:lnSpc>
                        <a:buNone/>
                      </a:pPr>
                      <a:r>
                        <a:rPr lang="en-US" sz="1500" dirty="0">
                          <a:solidFill>
                            <a:srgbClr val="E6EDF7"/>
                          </a:solidFill>
                          <a:latin typeface="Arial" pitchFamily="34" charset="0"/>
                          <a:ea typeface="Arial" pitchFamily="34" charset="-122"/>
                          <a:cs typeface="Arial" pitchFamily="34" charset="-120"/>
                        </a:rPr>
                        <a:t>Yes</a:t>
                      </a:r>
                      <a:endParaRPr lang="en-US" sz="1500" dirty="0">
                        <a:latin typeface="Arial" charset="0"/>
                        <a:ea typeface="Arial" charset="0"/>
                        <a:cs typeface="Arial" charset="0"/>
                      </a:endParaRPr>
                    </a:p>
                  </a:txBody>
                  <a:tcPr marL="66675" marR="66675" marT="66675" marB="6667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91418">
                <a:tc>
                  <a:txBody>
                    <a:bodyPr/>
                    <a:lstStyle/>
                    <a:p>
                      <a:pPr indent="0" marL="0">
                        <a:lnSpc>
                          <a:spcPts val="2100"/>
                        </a:lnSpc>
                        <a:buNone/>
                      </a:pPr>
                      <a:r>
                        <a:rPr lang="en-US" sz="1500" dirty="0">
                          <a:solidFill>
                            <a:srgbClr val="E6EDF7"/>
                          </a:solidFill>
                          <a:latin typeface="Arial" pitchFamily="34" charset="0"/>
                          <a:ea typeface="Arial" pitchFamily="34" charset="-122"/>
                          <a:cs typeface="Arial" pitchFamily="34" charset="-120"/>
                        </a:rPr>
                        <a:t>Add employee</a:t>
                      </a:r>
                      <a:endParaRPr lang="en-US" sz="1500" dirty="0">
                        <a:latin typeface="Arial" charset="0"/>
                        <a:ea typeface="Arial" charset="0"/>
                        <a:cs typeface="Arial" charset="0"/>
                      </a:endParaRPr>
                    </a:p>
                  </a:txBody>
                  <a:tcPr marL="66675" marR="66675" marT="66675" marB="6667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algn="ctr" indent="0" marL="0">
                        <a:lnSpc>
                          <a:spcPts val="2100"/>
                        </a:lnSpc>
                        <a:buNone/>
                      </a:pPr>
                      <a:r>
                        <a:rPr lang="en-US" sz="1500" dirty="0">
                          <a:solidFill>
                            <a:srgbClr val="E6EDF7"/>
                          </a:solidFill>
                          <a:latin typeface="Arial" pitchFamily="34" charset="0"/>
                          <a:ea typeface="Arial" pitchFamily="34" charset="-122"/>
                          <a:cs typeface="Arial" pitchFamily="34" charset="-120"/>
                        </a:rPr>
                        <a:t>Yes</a:t>
                      </a:r>
                      <a:endParaRPr lang="en-US" sz="1500" dirty="0">
                        <a:latin typeface="Arial" charset="0"/>
                        <a:ea typeface="Arial" charset="0"/>
                        <a:cs typeface="Arial" charset="0"/>
                      </a:endParaRPr>
                    </a:p>
                  </a:txBody>
                  <a:tcPr marL="66675" marR="66675" marT="66675" marB="6667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algn="ctr" indent="0" marL="0">
                        <a:lnSpc>
                          <a:spcPts val="2100"/>
                        </a:lnSpc>
                        <a:buNone/>
                      </a:pPr>
                      <a:r>
                        <a:rPr lang="en-US" sz="1500" dirty="0">
                          <a:solidFill>
                            <a:srgbClr val="F59E0B"/>
                          </a:solidFill>
                          <a:latin typeface="Arial" pitchFamily="34" charset="0"/>
                          <a:ea typeface="Arial" pitchFamily="34" charset="-122"/>
                          <a:cs typeface="Arial" pitchFamily="34" charset="-120"/>
                        </a:rPr>
                        <a:t>No</a:t>
                      </a:r>
                      <a:endParaRPr lang="en-US" sz="1500" dirty="0">
                        <a:latin typeface="Arial" charset="0"/>
                        <a:ea typeface="Arial" charset="0"/>
                        <a:cs typeface="Arial" charset="0"/>
                      </a:endParaRPr>
                    </a:p>
                  </a:txBody>
                  <a:tcPr marL="66675" marR="66675" marT="66675" marB="6667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91418">
                <a:tc>
                  <a:txBody>
                    <a:bodyPr/>
                    <a:lstStyle/>
                    <a:p>
                      <a:pPr indent="0" marL="0">
                        <a:lnSpc>
                          <a:spcPts val="2100"/>
                        </a:lnSpc>
                        <a:buNone/>
                      </a:pPr>
                      <a:r>
                        <a:rPr lang="en-US" sz="1500" dirty="0">
                          <a:solidFill>
                            <a:srgbClr val="E6EDF7"/>
                          </a:solidFill>
                          <a:latin typeface="Arial" pitchFamily="34" charset="0"/>
                          <a:ea typeface="Arial" pitchFamily="34" charset="-122"/>
                          <a:cs typeface="Arial" pitchFamily="34" charset="-120"/>
                        </a:rPr>
                        <a:t>Update employee</a:t>
                      </a:r>
                      <a:endParaRPr lang="en-US" sz="1500" dirty="0">
                        <a:latin typeface="Arial" charset="0"/>
                        <a:ea typeface="Arial" charset="0"/>
                        <a:cs typeface="Arial" charset="0"/>
                      </a:endParaRPr>
                    </a:p>
                  </a:txBody>
                  <a:tcPr marL="66675" marR="66675" marT="66675" marB="6667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algn="ctr" indent="0" marL="0">
                        <a:lnSpc>
                          <a:spcPts val="2100"/>
                        </a:lnSpc>
                        <a:buNone/>
                      </a:pPr>
                      <a:r>
                        <a:rPr lang="en-US" sz="1500" dirty="0">
                          <a:solidFill>
                            <a:srgbClr val="E6EDF7"/>
                          </a:solidFill>
                          <a:latin typeface="Arial" pitchFamily="34" charset="0"/>
                          <a:ea typeface="Arial" pitchFamily="34" charset="-122"/>
                          <a:cs typeface="Arial" pitchFamily="34" charset="-120"/>
                        </a:rPr>
                        <a:t>Yes</a:t>
                      </a:r>
                      <a:endParaRPr lang="en-US" sz="1500" dirty="0">
                        <a:latin typeface="Arial" charset="0"/>
                        <a:ea typeface="Arial" charset="0"/>
                        <a:cs typeface="Arial" charset="0"/>
                      </a:endParaRPr>
                    </a:p>
                  </a:txBody>
                  <a:tcPr marL="66675" marR="66675" marT="66675" marB="6667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algn="ctr" indent="0" marL="0">
                        <a:lnSpc>
                          <a:spcPts val="2100"/>
                        </a:lnSpc>
                        <a:buNone/>
                      </a:pPr>
                      <a:r>
                        <a:rPr lang="en-US" sz="1500" dirty="0">
                          <a:solidFill>
                            <a:srgbClr val="F59E0B"/>
                          </a:solidFill>
                          <a:latin typeface="Arial" pitchFamily="34" charset="0"/>
                          <a:ea typeface="Arial" pitchFamily="34" charset="-122"/>
                          <a:cs typeface="Arial" pitchFamily="34" charset="-120"/>
                        </a:rPr>
                        <a:t>No</a:t>
                      </a:r>
                      <a:endParaRPr lang="en-US" sz="1500" dirty="0">
                        <a:latin typeface="Arial" charset="0"/>
                        <a:ea typeface="Arial" charset="0"/>
                        <a:cs typeface="Arial" charset="0"/>
                      </a:endParaRPr>
                    </a:p>
                  </a:txBody>
                  <a:tcPr marL="66675" marR="66675" marT="66675" marB="6667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91418">
                <a:tc>
                  <a:txBody>
                    <a:bodyPr/>
                    <a:lstStyle/>
                    <a:p>
                      <a:pPr indent="0" marL="0">
                        <a:lnSpc>
                          <a:spcPts val="2100"/>
                        </a:lnSpc>
                        <a:buNone/>
                      </a:pPr>
                      <a:r>
                        <a:rPr lang="en-US" sz="1500" dirty="0">
                          <a:solidFill>
                            <a:srgbClr val="E6EDF7"/>
                          </a:solidFill>
                          <a:latin typeface="Arial" pitchFamily="34" charset="0"/>
                          <a:ea typeface="Arial" pitchFamily="34" charset="-122"/>
                          <a:cs typeface="Arial" pitchFamily="34" charset="-120"/>
                        </a:rPr>
                        <a:t>Delete employee (confirmation required)</a:t>
                      </a:r>
                      <a:endParaRPr lang="en-US" sz="1500" dirty="0">
                        <a:latin typeface="Arial" charset="0"/>
                        <a:ea typeface="Arial" charset="0"/>
                        <a:cs typeface="Arial" charset="0"/>
                      </a:endParaRPr>
                    </a:p>
                  </a:txBody>
                  <a:tcPr marL="66675" marR="66675" marT="66675" marB="6667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algn="ctr" indent="0" marL="0">
                        <a:lnSpc>
                          <a:spcPts val="2100"/>
                        </a:lnSpc>
                        <a:buNone/>
                      </a:pPr>
                      <a:r>
                        <a:rPr lang="en-US" sz="1500" dirty="0">
                          <a:solidFill>
                            <a:srgbClr val="E6EDF7"/>
                          </a:solidFill>
                          <a:latin typeface="Arial" pitchFamily="34" charset="0"/>
                          <a:ea typeface="Arial" pitchFamily="34" charset="-122"/>
                          <a:cs typeface="Arial" pitchFamily="34" charset="-120"/>
                        </a:rPr>
                        <a:t>Yes</a:t>
                      </a:r>
                      <a:endParaRPr lang="en-US" sz="1500" dirty="0">
                        <a:latin typeface="Arial" charset="0"/>
                        <a:ea typeface="Arial" charset="0"/>
                        <a:cs typeface="Arial" charset="0"/>
                      </a:endParaRPr>
                    </a:p>
                  </a:txBody>
                  <a:tcPr marL="66675" marR="66675" marT="66675" marB="6667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algn="ctr" indent="0" marL="0">
                        <a:lnSpc>
                          <a:spcPts val="2100"/>
                        </a:lnSpc>
                        <a:buNone/>
                      </a:pPr>
                      <a:r>
                        <a:rPr lang="en-US" sz="1500" dirty="0">
                          <a:solidFill>
                            <a:srgbClr val="F59E0B"/>
                          </a:solidFill>
                          <a:latin typeface="Arial" pitchFamily="34" charset="0"/>
                          <a:ea typeface="Arial" pitchFamily="34" charset="-122"/>
                          <a:cs typeface="Arial" pitchFamily="34" charset="-120"/>
                        </a:rPr>
                        <a:t>No</a:t>
                      </a:r>
                      <a:endParaRPr lang="en-US" sz="1500" dirty="0">
                        <a:latin typeface="Arial" charset="0"/>
                        <a:ea typeface="Arial" charset="0"/>
                        <a:cs typeface="Arial" charset="0"/>
                      </a:endParaRPr>
                    </a:p>
                  </a:txBody>
                  <a:tcPr marL="66675" marR="66675" marT="66675" marB="6667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bl>
          </a:graphicData>
        </a:graphic>
      </p:graphicFrame>
      <p:sp>
        <p:nvSpPr>
          <p:cNvPr id="5" name="Text 2"/>
          <p:cNvSpPr/>
          <p:nvPr/>
        </p:nvSpPr>
        <p:spPr>
          <a:xfrm>
            <a:off x="812800" y="4365724"/>
            <a:ext cx="10566400" cy="897136"/>
          </a:xfrm>
          <a:prstGeom prst="roundRect">
            <a:avLst>
              <a:gd name="adj" fmla="val 11325"/>
            </a:avLst>
          </a:prstGeom>
          <a:solidFill>
            <a:srgbClr val="1A2640"/>
          </a:solidFill>
          <a:ln/>
        </p:spPr>
        <p:txBody>
          <a:bodyPr wrap="square" lIns="224242" tIns="173442" rIns="0" bIns="148042" rtlCol="0" anchor="t">
            <a:normAutofit/>
          </a:bodyPr>
          <a:lstStyle/>
          <a:p>
            <a:pPr algn="l" indent="0" marL="0">
              <a:lnSpc>
                <a:spcPts val="2100"/>
              </a:lnSpc>
              <a:buNone/>
            </a:pPr>
            <a:r>
              <a:rPr lang="en-US" sz="1500" dirty="0">
                <a:solidFill>
                  <a:srgbClr val="E6EDF7"/>
                </a:solidFill>
                <a:latin typeface="Arial" pitchFamily="34" charset="0"/>
                <a:ea typeface="Arial" pitchFamily="34" charset="-122"/>
                <a:cs typeface="Arial" pitchFamily="34" charset="-120"/>
              </a:rPr>
              <a:t>Roles are checked in the Java application, not only in the page. A viewer who types the delete address directly still receives </a:t>
            </a:r>
            <a:r>
              <a:rPr lang="en-US" sz="1500" b="1" dirty="0">
                <a:solidFill>
                  <a:srgbClr val="E6EDF7"/>
                </a:solidFill>
                <a:latin typeface="Arial" pitchFamily="34" charset="0"/>
                <a:ea typeface="Arial" pitchFamily="34" charset="-122"/>
                <a:cs typeface="Arial" pitchFamily="34" charset="-120"/>
              </a:rPr>
              <a:t>403 Access Denied</a:t>
            </a:r>
            <a:r>
              <a:rPr lang="en-US" sz="1500" dirty="0">
                <a:solidFill>
                  <a:srgbClr val="E6EDF7"/>
                </a:solidFill>
                <a:latin typeface="Arial" pitchFamily="34" charset="0"/>
                <a:ea typeface="Arial" pitchFamily="34" charset="-122"/>
                <a:cs typeface="Arial" pitchFamily="34" charset="-120"/>
              </a:rPr>
              <a:t>, and no data changes.</a:t>
            </a:r>
            <a:endParaRPr lang="en-US" sz="1500" dirty="0"/>
          </a:p>
        </p:txBody>
      </p:sp>
      <p:sp>
        <p:nvSpPr>
          <p:cNvPr id="6" name="Text 3"/>
          <p:cNvSpPr/>
          <p:nvPr/>
        </p:nvSpPr>
        <p:spPr>
          <a:xfrm>
            <a:off x="812800" y="6255345"/>
            <a:ext cx="5886450"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C0"/>
                </a:solidFill>
                <a:latin typeface="Arial" pitchFamily="34" charset="0"/>
                <a:ea typeface="Arial" pitchFamily="34" charset="-122"/>
                <a:cs typeface="Arial" pitchFamily="34" charset="-120"/>
              </a:rPr>
              <a:t>Employee Management Analysis</a:t>
            </a:r>
            <a:endParaRPr lang="en-US" sz="1200" dirty="0"/>
          </a:p>
        </p:txBody>
      </p:sp>
      <p:sp>
        <p:nvSpPr>
          <p:cNvPr id="7" name="Text 4"/>
          <p:cNvSpPr/>
          <p:nvPr/>
        </p:nvSpPr>
        <p:spPr>
          <a:xfrm>
            <a:off x="9417050" y="6255345"/>
            <a:ext cx="1962150" cy="2216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3C0"/>
                </a:solidFill>
                <a:latin typeface="Arial" pitchFamily="34" charset="0"/>
                <a:ea typeface="Arial" pitchFamily="34" charset="-122"/>
                <a:cs typeface="Arial" pitchFamily="34" charset="-120"/>
              </a:rPr>
              <a:t>10 / 15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216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DD4BF"/>
                </a:solidFill>
                <a:latin typeface="Arial" pitchFamily="34" charset="0"/>
                <a:ea typeface="Arial" pitchFamily="34" charset="-122"/>
                <a:cs typeface="Arial" pitchFamily="34" charset="-120"/>
              </a:rPr>
              <a:t>TESTING AND RESULTS</a:t>
            </a:r>
            <a:endParaRPr lang="en-US" sz="1200" dirty="0"/>
          </a:p>
        </p:txBody>
      </p:sp>
      <p:sp>
        <p:nvSpPr>
          <p:cNvPr id="3" name="Text 1"/>
          <p:cNvSpPr/>
          <p:nvPr>
            <p:ph type="title"/>
          </p:nvPr>
        </p:nvSpPr>
        <p:spPr>
          <a:xfrm>
            <a:off x="812800" y="1085255"/>
            <a:ext cx="10883392" cy="43666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6EDF7"/>
                </a:solidFill>
                <a:latin typeface="Arial" pitchFamily="34" charset="0"/>
                <a:ea typeface="Arial" pitchFamily="34" charset="-122"/>
                <a:cs typeface="Arial" pitchFamily="34" charset="-120"/>
              </a:rPr>
              <a:t>Test cases TC-01 to TC-11</a:t>
            </a:r>
            <a:endParaRPr lang="en-US" sz="3200" dirty="0"/>
          </a:p>
        </p:txBody>
      </p:sp>
      <p:sp>
        <p:nvSpPr>
          <p:cNvPr id="4" name="Shape 2"/>
          <p:cNvSpPr/>
          <p:nvPr/>
        </p:nvSpPr>
        <p:spPr>
          <a:xfrm>
            <a:off x="815975" y="1804491"/>
            <a:ext cx="5175250" cy="2282726"/>
          </a:xfrm>
          <a:prstGeom prst="roundRect">
            <a:avLst>
              <a:gd name="adj" fmla="val 4312"/>
            </a:avLst>
          </a:prstGeom>
          <a:solidFill>
            <a:srgbClr val="131C30"/>
          </a:solidFill>
          <a:ln w="6350">
            <a:solidFill>
              <a:srgbClr val="25324D"/>
            </a:solidFill>
            <a:prstDash val="solid"/>
          </a:ln>
        </p:spPr>
      </p:sp>
      <p:sp>
        <p:nvSpPr>
          <p:cNvPr id="5" name="Text 3"/>
          <p:cNvSpPr/>
          <p:nvPr/>
        </p:nvSpPr>
        <p:spPr>
          <a:xfrm>
            <a:off x="1073150" y="2061666"/>
            <a:ext cx="4800727" cy="30579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7"/>
                </a:solidFill>
                <a:latin typeface="Arial" pitchFamily="34" charset="0"/>
                <a:ea typeface="Arial" pitchFamily="34" charset="-122"/>
                <a:cs typeface="Arial" pitchFamily="34" charset="-120"/>
              </a:rPr>
              <a:t>What was tested</a:t>
            </a:r>
            <a:endParaRPr lang="en-US" sz="2000" dirty="0"/>
          </a:p>
        </p:txBody>
      </p:sp>
      <p:sp>
        <p:nvSpPr>
          <p:cNvPr id="6" name="Text 4"/>
          <p:cNvSpPr/>
          <p:nvPr/>
        </p:nvSpPr>
        <p:spPr>
          <a:xfrm>
            <a:off x="1176782" y="2456359"/>
            <a:ext cx="4689475" cy="1399084"/>
          </a:xfrm>
          <a:prstGeom prst="rect">
            <a:avLst/>
          </a:prstGeom>
          <a:noFill/>
          <a:ln/>
        </p:spPr>
        <p:txBody>
          <a:bodyPr wrap="square" lIns="0" tIns="0" rIns="0" bIns="0" rtlCol="0" anchor="t">
            <a:normAutofit/>
          </a:bodyPr>
          <a:lstStyle/>
          <a:p>
            <a:pPr algn="l" marL="150368" indent="-150368">
              <a:lnSpc>
                <a:spcPts val="1960"/>
              </a:lnSpc>
              <a:buSzPct val="100000"/>
              <a:buChar char="•"/>
            </a:pPr>
            <a:r>
              <a:rPr lang="en-US" sz="1400" dirty="0">
                <a:solidFill>
                  <a:srgbClr val="E6EDF7"/>
                </a:solidFill>
                <a:latin typeface="Arial" pitchFamily="34" charset="0"/>
                <a:ea typeface="Arial" pitchFamily="34" charset="-122"/>
                <a:cs typeface="Arial" pitchFamily="34" charset="-120"/>
              </a:rPr>
              <a:t>Valid and invalid login</a:t>
            </a:r>
            <a:endParaRPr lang="en-US" sz="1400" dirty="0"/>
          </a:p>
          <a:p>
            <a:pPr algn="l" marL="150368" indent="-150368">
              <a:lnSpc>
                <a:spcPts val="1960"/>
              </a:lnSpc>
              <a:buSzPct val="100000"/>
              <a:buChar char="•"/>
            </a:pPr>
            <a:r>
              <a:rPr lang="en-US" sz="1400" dirty="0">
                <a:solidFill>
                  <a:srgbClr val="E6EDF7"/>
                </a:solidFill>
                <a:latin typeface="Arial" pitchFamily="34" charset="0"/>
                <a:ea typeface="Arial" pitchFamily="34" charset="-122"/>
                <a:cs typeface="Arial" pitchFamily="34" charset="-120"/>
              </a:rPr>
              <a:t>Add employee: valid data, empty name, duplicate ID, email without @</a:t>
            </a:r>
            <a:endParaRPr lang="en-US" sz="1400" dirty="0"/>
          </a:p>
          <a:p>
            <a:pPr algn="l" marL="150368" indent="-150368">
              <a:lnSpc>
                <a:spcPts val="1960"/>
              </a:lnSpc>
              <a:buSzPct val="100000"/>
              <a:buChar char="•"/>
            </a:pPr>
            <a:r>
              <a:rPr lang="en-US" sz="1400" dirty="0">
                <a:solidFill>
                  <a:srgbClr val="E6EDF7"/>
                </a:solidFill>
                <a:latin typeface="Arial" pitchFamily="34" charset="0"/>
                <a:ea typeface="Arial" pitchFamily="34" charset="-122"/>
                <a:cs typeface="Arial" pitchFamily="34" charset="-120"/>
              </a:rPr>
              <a:t>Search: existing ID and unknown ID</a:t>
            </a:r>
            <a:endParaRPr lang="en-US" sz="1400" dirty="0"/>
          </a:p>
          <a:p>
            <a:pPr algn="l" marL="150368" indent="-150368">
              <a:lnSpc>
                <a:spcPts val="1960"/>
              </a:lnSpc>
              <a:buSzPct val="100000"/>
              <a:buChar char="•"/>
            </a:pPr>
            <a:r>
              <a:rPr lang="en-US" sz="1400" dirty="0">
                <a:solidFill>
                  <a:srgbClr val="E6EDF7"/>
                </a:solidFill>
                <a:latin typeface="Arial" pitchFamily="34" charset="0"/>
                <a:ea typeface="Arial" pitchFamily="34" charset="-122"/>
                <a:cs typeface="Arial" pitchFamily="34" charset="-120"/>
              </a:rPr>
              <a:t>Update a designation; delete with confirmation</a:t>
            </a:r>
            <a:endParaRPr lang="en-US" sz="1400" dirty="0"/>
          </a:p>
          <a:p>
            <a:pPr algn="l" marL="150368" indent="-150368">
              <a:lnSpc>
                <a:spcPts val="1960"/>
              </a:lnSpc>
              <a:buSzPct val="100000"/>
              <a:buChar char="•"/>
            </a:pPr>
            <a:r>
              <a:rPr lang="en-US" sz="1400" dirty="0">
                <a:solidFill>
                  <a:srgbClr val="E6EDF7"/>
                </a:solidFill>
                <a:latin typeface="Arial" pitchFamily="34" charset="0"/>
                <a:ea typeface="Arial" pitchFamily="34" charset="-122"/>
                <a:cs typeface="Arial" pitchFamily="34" charset="-120"/>
              </a:rPr>
              <a:t>Special characters such as quotes and symbols in a name</a:t>
            </a:r>
            <a:endParaRPr lang="en-US" sz="1400" dirty="0"/>
          </a:p>
        </p:txBody>
      </p:sp>
      <p:sp>
        <p:nvSpPr>
          <p:cNvPr id="7" name="Shape 5"/>
          <p:cNvSpPr/>
          <p:nvPr/>
        </p:nvSpPr>
        <p:spPr>
          <a:xfrm>
            <a:off x="6200775" y="1804491"/>
            <a:ext cx="5175250" cy="2282726"/>
          </a:xfrm>
          <a:prstGeom prst="roundRect">
            <a:avLst>
              <a:gd name="adj" fmla="val 4312"/>
            </a:avLst>
          </a:prstGeom>
          <a:solidFill>
            <a:srgbClr val="131C30"/>
          </a:solidFill>
          <a:ln w="6350">
            <a:solidFill>
              <a:srgbClr val="25324D"/>
            </a:solidFill>
            <a:prstDash val="solid"/>
          </a:ln>
        </p:spPr>
      </p:sp>
      <p:sp>
        <p:nvSpPr>
          <p:cNvPr id="8" name="Text 6"/>
          <p:cNvSpPr/>
          <p:nvPr/>
        </p:nvSpPr>
        <p:spPr>
          <a:xfrm>
            <a:off x="6457950" y="2061666"/>
            <a:ext cx="4800727" cy="30579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7"/>
                </a:solidFill>
                <a:latin typeface="Arial" pitchFamily="34" charset="0"/>
                <a:ea typeface="Arial" pitchFamily="34" charset="-122"/>
                <a:cs typeface="Arial" pitchFamily="34" charset="-120"/>
              </a:rPr>
              <a:t>Results and lessons</a:t>
            </a:r>
            <a:endParaRPr lang="en-US" sz="2000" dirty="0"/>
          </a:p>
        </p:txBody>
      </p:sp>
      <p:sp>
        <p:nvSpPr>
          <p:cNvPr id="9" name="Text 7"/>
          <p:cNvSpPr/>
          <p:nvPr/>
        </p:nvSpPr>
        <p:spPr>
          <a:xfrm>
            <a:off x="6561582" y="2456359"/>
            <a:ext cx="4689475" cy="1399084"/>
          </a:xfrm>
          <a:prstGeom prst="rect">
            <a:avLst/>
          </a:prstGeom>
          <a:noFill/>
          <a:ln/>
        </p:spPr>
        <p:txBody>
          <a:bodyPr wrap="square" lIns="0" tIns="0" rIns="0" bIns="0" rtlCol="0" anchor="t">
            <a:normAutofit/>
          </a:bodyPr>
          <a:lstStyle/>
          <a:p>
            <a:pPr algn="l" marL="150368" indent="-150368">
              <a:lnSpc>
                <a:spcPts val="1960"/>
              </a:lnSpc>
              <a:buSzPct val="100000"/>
              <a:buChar char="•"/>
            </a:pPr>
            <a:r>
              <a:rPr lang="en-US" sz="1400" dirty="0">
                <a:solidFill>
                  <a:srgbClr val="E6EDF7"/>
                </a:solidFill>
                <a:latin typeface="Arial" pitchFamily="34" charset="0"/>
                <a:ea typeface="Arial" pitchFamily="34" charset="-122"/>
                <a:cs typeface="Arial" pitchFamily="34" charset="-120"/>
              </a:rPr>
              <a:t>Each case has an output screen showing the expected result</a:t>
            </a:r>
            <a:endParaRPr lang="en-US" sz="1400" dirty="0"/>
          </a:p>
          <a:p>
            <a:pPr algn="l" marL="150368" indent="-150368">
              <a:lnSpc>
                <a:spcPts val="1960"/>
              </a:lnSpc>
              <a:buSzPct val="100000"/>
              <a:buChar char="•"/>
            </a:pPr>
            <a:r>
              <a:rPr lang="en-US" sz="1400" dirty="0">
                <a:solidFill>
                  <a:srgbClr val="E6EDF7"/>
                </a:solidFill>
                <a:latin typeface="Arial" pitchFamily="34" charset="0"/>
                <a:ea typeface="Arial" pitchFamily="34" charset="-122"/>
                <a:cs typeface="Arial" pitchFamily="34" charset="-120"/>
              </a:rPr>
              <a:t>Duplicate IDs and bad input are rejected with a simple message, not a technical error</a:t>
            </a:r>
            <a:endParaRPr lang="en-US" sz="1400" dirty="0"/>
          </a:p>
          <a:p>
            <a:pPr algn="l" marL="150368" indent="-150368">
              <a:lnSpc>
                <a:spcPts val="1960"/>
              </a:lnSpc>
              <a:buSzPct val="100000"/>
              <a:buChar char="•"/>
            </a:pPr>
            <a:r>
              <a:rPr lang="en-US" sz="1400" dirty="0">
                <a:solidFill>
                  <a:srgbClr val="E6EDF7"/>
                </a:solidFill>
                <a:latin typeface="Arial" pitchFamily="34" charset="0"/>
                <a:ea typeface="Arial" pitchFamily="34" charset="-122"/>
                <a:cs typeface="Arial" pitchFamily="34" charset="-120"/>
              </a:rPr>
              <a:t>Challenge: mixed logic and SQL. Fix: a separate data-access class</a:t>
            </a:r>
            <a:endParaRPr lang="en-US" sz="1400" dirty="0"/>
          </a:p>
          <a:p>
            <a:pPr algn="l" marL="150368" indent="-150368">
              <a:lnSpc>
                <a:spcPts val="1960"/>
              </a:lnSpc>
              <a:buSzPct val="100000"/>
              <a:buChar char="•"/>
            </a:pPr>
            <a:r>
              <a:rPr lang="en-US" sz="1400" dirty="0">
                <a:solidFill>
                  <a:srgbClr val="E6EDF7"/>
                </a:solidFill>
                <a:latin typeface="Arial" pitchFamily="34" charset="0"/>
                <a:ea typeface="Arial" pitchFamily="34" charset="-122"/>
                <a:cs typeface="Arial" pitchFamily="34" charset="-120"/>
              </a:rPr>
              <a:t>Challenge: SQL errors. Fix: test each query on sample data first</a:t>
            </a:r>
            <a:endParaRPr lang="en-US" sz="1400" dirty="0"/>
          </a:p>
        </p:txBody>
      </p:sp>
      <p:sp>
        <p:nvSpPr>
          <p:cNvPr id="10" name="Text 8"/>
          <p:cNvSpPr/>
          <p:nvPr/>
        </p:nvSpPr>
        <p:spPr>
          <a:xfrm>
            <a:off x="812800" y="6255345"/>
            <a:ext cx="5886450"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C0"/>
                </a:solidFill>
                <a:latin typeface="Arial" pitchFamily="34" charset="0"/>
                <a:ea typeface="Arial" pitchFamily="34" charset="-122"/>
                <a:cs typeface="Arial" pitchFamily="34" charset="-120"/>
              </a:rPr>
              <a:t>Employee Management Analysis</a:t>
            </a:r>
            <a:endParaRPr lang="en-US" sz="1200" dirty="0"/>
          </a:p>
        </p:txBody>
      </p:sp>
      <p:sp>
        <p:nvSpPr>
          <p:cNvPr id="11" name="Text 9"/>
          <p:cNvSpPr/>
          <p:nvPr/>
        </p:nvSpPr>
        <p:spPr>
          <a:xfrm>
            <a:off x="9417050" y="6255345"/>
            <a:ext cx="1962150" cy="2216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3C0"/>
                </a:solidFill>
                <a:latin typeface="Arial" pitchFamily="34" charset="0"/>
                <a:ea typeface="Arial" pitchFamily="34" charset="-122"/>
                <a:cs typeface="Arial" pitchFamily="34" charset="-120"/>
              </a:rPr>
              <a:t>11 / 15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216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DD4BF"/>
                </a:solidFill>
                <a:latin typeface="Arial" pitchFamily="34" charset="0"/>
                <a:ea typeface="Arial" pitchFamily="34" charset="-122"/>
                <a:cs typeface="Arial" pitchFamily="34" charset="-120"/>
              </a:rPr>
              <a:t>OUTPUT SCREENSHOTS | 1</a:t>
            </a:r>
            <a:endParaRPr lang="en-US" sz="1200" dirty="0"/>
          </a:p>
        </p:txBody>
      </p:sp>
      <p:sp>
        <p:nvSpPr>
          <p:cNvPr id="3" name="Text 1"/>
          <p:cNvSpPr/>
          <p:nvPr>
            <p:ph type="title"/>
          </p:nvPr>
        </p:nvSpPr>
        <p:spPr>
          <a:xfrm>
            <a:off x="812800" y="1085255"/>
            <a:ext cx="10883392" cy="43666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6EDF7"/>
                </a:solidFill>
                <a:latin typeface="Arial" pitchFamily="34" charset="0"/>
                <a:ea typeface="Arial" pitchFamily="34" charset="-122"/>
                <a:cs typeface="Arial" pitchFamily="34" charset="-120"/>
              </a:rPr>
              <a:t>Dashboard and employee list</a:t>
            </a:r>
            <a:endParaRPr lang="en-US" sz="3200" dirty="0"/>
          </a:p>
        </p:txBody>
      </p:sp>
      <p:sp>
        <p:nvSpPr>
          <p:cNvPr id="4" name="Shape 2"/>
          <p:cNvSpPr/>
          <p:nvPr/>
        </p:nvSpPr>
        <p:spPr>
          <a:xfrm>
            <a:off x="812800" y="1750516"/>
            <a:ext cx="5181600" cy="3429000"/>
          </a:xfrm>
          <a:prstGeom prst="roundRect">
            <a:avLst>
              <a:gd name="adj" fmla="val 2222"/>
            </a:avLst>
          </a:prstGeom>
          <a:solidFill>
            <a:srgbClr val="131C30"/>
          </a:solidFill>
          <a:ln/>
        </p:spPr>
      </p:sp>
      <p:pic>
        <p:nvPicPr>
          <p:cNvPr id="5" name="Image 0" descr="Dashboard showing 10 employees, 9 active, 1 inactive, 4 departments and a bar chart of employees by department">    </p:cNvPr>
          <p:cNvPicPr>
            <a:picLocks noChangeAspect="1"/>
          </p:cNvPicPr>
          <p:nvPr/>
        </p:nvPicPr>
        <p:blipFill>
          <a:blip r:embed="rId1"/>
          <a:stretch>
            <a:fillRect/>
          </a:stretch>
        </p:blipFill>
        <p:spPr>
          <a:xfrm>
            <a:off x="812800" y="1843176"/>
            <a:ext cx="5181600" cy="3243682"/>
          </a:xfrm>
          <a:prstGeom prst="rect">
            <a:avLst/>
          </a:prstGeom>
        </p:spPr>
      </p:pic>
      <p:sp>
        <p:nvSpPr>
          <p:cNvPr id="6" name="Text 3"/>
          <p:cNvSpPr/>
          <p:nvPr/>
        </p:nvSpPr>
        <p:spPr>
          <a:xfrm>
            <a:off x="812800" y="5268416"/>
            <a:ext cx="5337048" cy="2380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FA3C0"/>
                </a:solidFill>
                <a:latin typeface="Arial" pitchFamily="34" charset="0"/>
                <a:ea typeface="Arial" pitchFamily="34" charset="-122"/>
                <a:cs typeface="Arial" pitchFamily="34" charset="-120"/>
              </a:rPr>
              <a:t>Figure 4.4: Dashboard</a:t>
            </a:r>
            <a:endParaRPr lang="en-US" sz="1300" dirty="0"/>
          </a:p>
        </p:txBody>
      </p:sp>
      <p:sp>
        <p:nvSpPr>
          <p:cNvPr id="7" name="Shape 4"/>
          <p:cNvSpPr/>
          <p:nvPr/>
        </p:nvSpPr>
        <p:spPr>
          <a:xfrm>
            <a:off x="6197600" y="1750516"/>
            <a:ext cx="5181600" cy="3429000"/>
          </a:xfrm>
          <a:prstGeom prst="roundRect">
            <a:avLst>
              <a:gd name="adj" fmla="val 2222"/>
            </a:avLst>
          </a:prstGeom>
          <a:solidFill>
            <a:srgbClr val="131C30"/>
          </a:solidFill>
          <a:ln/>
        </p:spPr>
      </p:sp>
      <p:pic>
        <p:nvPicPr>
          <p:cNvPr id="8" name="Image 1" descr="Employee list table with search box, department filter and Edit and Delete buttons">    </p:cNvPr>
          <p:cNvPicPr>
            <a:picLocks noChangeAspect="1"/>
          </p:cNvPicPr>
          <p:nvPr/>
        </p:nvPicPr>
        <p:blipFill>
          <a:blip r:embed="rId2"/>
          <a:stretch>
            <a:fillRect/>
          </a:stretch>
        </p:blipFill>
        <p:spPr>
          <a:xfrm>
            <a:off x="6581836" y="1750516"/>
            <a:ext cx="4413127" cy="3429000"/>
          </a:xfrm>
          <a:prstGeom prst="rect">
            <a:avLst/>
          </a:prstGeom>
        </p:spPr>
      </p:pic>
      <p:sp>
        <p:nvSpPr>
          <p:cNvPr id="9" name="Text 5"/>
          <p:cNvSpPr/>
          <p:nvPr/>
        </p:nvSpPr>
        <p:spPr>
          <a:xfrm>
            <a:off x="6197600" y="5268416"/>
            <a:ext cx="5337048" cy="2380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FA3C0"/>
                </a:solidFill>
                <a:latin typeface="Arial" pitchFamily="34" charset="0"/>
                <a:ea typeface="Arial" pitchFamily="34" charset="-122"/>
                <a:cs typeface="Arial" pitchFamily="34" charset="-120"/>
              </a:rPr>
              <a:t>Figure 4.5: Employee list</a:t>
            </a:r>
            <a:endParaRPr lang="en-US" sz="1300" dirty="0"/>
          </a:p>
        </p:txBody>
      </p:sp>
      <p:sp>
        <p:nvSpPr>
          <p:cNvPr id="10" name="Text 6"/>
          <p:cNvSpPr/>
          <p:nvPr/>
        </p:nvSpPr>
        <p:spPr>
          <a:xfrm>
            <a:off x="812800" y="6255345"/>
            <a:ext cx="5886450"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C0"/>
                </a:solidFill>
                <a:latin typeface="Arial" pitchFamily="34" charset="0"/>
                <a:ea typeface="Arial" pitchFamily="34" charset="-122"/>
                <a:cs typeface="Arial" pitchFamily="34" charset="-120"/>
              </a:rPr>
              <a:t>Employee Management Analysis</a:t>
            </a:r>
            <a:endParaRPr lang="en-US" sz="1200" dirty="0"/>
          </a:p>
        </p:txBody>
      </p:sp>
      <p:sp>
        <p:nvSpPr>
          <p:cNvPr id="11" name="Text 7"/>
          <p:cNvSpPr/>
          <p:nvPr/>
        </p:nvSpPr>
        <p:spPr>
          <a:xfrm>
            <a:off x="9417050" y="6255345"/>
            <a:ext cx="1962150" cy="2216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3C0"/>
                </a:solidFill>
                <a:latin typeface="Arial" pitchFamily="34" charset="0"/>
                <a:ea typeface="Arial" pitchFamily="34" charset="-122"/>
                <a:cs typeface="Arial" pitchFamily="34" charset="-120"/>
              </a:rPr>
              <a:t>12 / 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216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DD4BF"/>
                </a:solidFill>
                <a:latin typeface="Arial" pitchFamily="34" charset="0"/>
                <a:ea typeface="Arial" pitchFamily="34" charset="-122"/>
                <a:cs typeface="Arial" pitchFamily="34" charset="-120"/>
              </a:rPr>
              <a:t>OUTPUT SCREENSHOTS | 2</a:t>
            </a:r>
            <a:endParaRPr lang="en-US" sz="1200" dirty="0"/>
          </a:p>
        </p:txBody>
      </p:sp>
      <p:sp>
        <p:nvSpPr>
          <p:cNvPr id="3" name="Text 1"/>
          <p:cNvSpPr/>
          <p:nvPr>
            <p:ph type="title"/>
          </p:nvPr>
        </p:nvSpPr>
        <p:spPr>
          <a:xfrm>
            <a:off x="812800" y="1085255"/>
            <a:ext cx="10883392" cy="43666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6EDF7"/>
                </a:solidFill>
                <a:latin typeface="Arial" pitchFamily="34" charset="0"/>
                <a:ea typeface="Arial" pitchFamily="34" charset="-122"/>
                <a:cs typeface="Arial" pitchFamily="34" charset="-120"/>
              </a:rPr>
              <a:t>Validation and access control</a:t>
            </a:r>
            <a:endParaRPr lang="en-US" sz="3200" dirty="0"/>
          </a:p>
        </p:txBody>
      </p:sp>
      <p:sp>
        <p:nvSpPr>
          <p:cNvPr id="4" name="Shape 2"/>
          <p:cNvSpPr/>
          <p:nvPr/>
        </p:nvSpPr>
        <p:spPr>
          <a:xfrm>
            <a:off x="812800" y="1750516"/>
            <a:ext cx="5181600" cy="3429000"/>
          </a:xfrm>
          <a:prstGeom prst="roundRect">
            <a:avLst>
              <a:gd name="adj" fmla="val 2222"/>
            </a:avLst>
          </a:prstGeom>
          <a:solidFill>
            <a:srgbClr val="131C30"/>
          </a:solidFill>
          <a:ln/>
        </p:spPr>
      </p:sp>
      <p:pic>
        <p:nvPicPr>
          <p:cNvPr id="5" name="Image 0" descr="Add employee form with errors: employee name is required and enter a valid email address">    </p:cNvPr>
          <p:cNvPicPr>
            <a:picLocks noChangeAspect="1"/>
          </p:cNvPicPr>
          <p:nvPr/>
        </p:nvPicPr>
        <p:blipFill>
          <a:blip r:embed="rId1"/>
          <a:stretch>
            <a:fillRect/>
          </a:stretch>
        </p:blipFill>
        <p:spPr>
          <a:xfrm>
            <a:off x="975130" y="1750516"/>
            <a:ext cx="4856941" cy="3429000"/>
          </a:xfrm>
          <a:prstGeom prst="rect">
            <a:avLst/>
          </a:prstGeom>
        </p:spPr>
      </p:pic>
      <p:sp>
        <p:nvSpPr>
          <p:cNvPr id="6" name="Text 3"/>
          <p:cNvSpPr/>
          <p:nvPr/>
        </p:nvSpPr>
        <p:spPr>
          <a:xfrm>
            <a:off x="812800" y="5268416"/>
            <a:ext cx="5337048" cy="2380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FA3C0"/>
                </a:solidFill>
                <a:latin typeface="Arial" pitchFamily="34" charset="0"/>
                <a:ea typeface="Arial" pitchFamily="34" charset="-122"/>
                <a:cs typeface="Arial" pitchFamily="34" charset="-120"/>
              </a:rPr>
              <a:t>Figure 4.7: Client-side validation</a:t>
            </a:r>
            <a:endParaRPr lang="en-US" sz="1300" dirty="0"/>
          </a:p>
        </p:txBody>
      </p:sp>
      <p:sp>
        <p:nvSpPr>
          <p:cNvPr id="7" name="Shape 4"/>
          <p:cNvSpPr/>
          <p:nvPr/>
        </p:nvSpPr>
        <p:spPr>
          <a:xfrm>
            <a:off x="6197600" y="1750516"/>
            <a:ext cx="5181600" cy="3429000"/>
          </a:xfrm>
          <a:prstGeom prst="roundRect">
            <a:avLst>
              <a:gd name="adj" fmla="val 2222"/>
            </a:avLst>
          </a:prstGeom>
          <a:solidFill>
            <a:srgbClr val="131C30"/>
          </a:solidFill>
          <a:ln/>
        </p:spPr>
      </p:sp>
      <p:pic>
        <p:nvPicPr>
          <p:cNvPr id="8" name="Image 1" descr="403 Access Denied page shown to a viewer who tried to delete a record">    </p:cNvPr>
          <p:cNvPicPr>
            <a:picLocks noChangeAspect="1"/>
          </p:cNvPicPr>
          <p:nvPr/>
        </p:nvPicPr>
        <p:blipFill>
          <a:blip r:embed="rId2"/>
          <a:stretch>
            <a:fillRect/>
          </a:stretch>
        </p:blipFill>
        <p:spPr>
          <a:xfrm>
            <a:off x="6197600" y="2128164"/>
            <a:ext cx="5181600" cy="2673706"/>
          </a:xfrm>
          <a:prstGeom prst="rect">
            <a:avLst/>
          </a:prstGeom>
        </p:spPr>
      </p:pic>
      <p:sp>
        <p:nvSpPr>
          <p:cNvPr id="9" name="Text 5"/>
          <p:cNvSpPr/>
          <p:nvPr/>
        </p:nvSpPr>
        <p:spPr>
          <a:xfrm>
            <a:off x="6197600" y="5268416"/>
            <a:ext cx="5337048" cy="2380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FA3C0"/>
                </a:solidFill>
                <a:latin typeface="Arial" pitchFamily="34" charset="0"/>
                <a:ea typeface="Arial" pitchFamily="34" charset="-122"/>
                <a:cs typeface="Arial" pitchFamily="34" charset="-120"/>
              </a:rPr>
              <a:t>Figure 4.17: Access Denied for a viewer</a:t>
            </a:r>
            <a:endParaRPr lang="en-US" sz="1300" dirty="0"/>
          </a:p>
        </p:txBody>
      </p:sp>
      <p:sp>
        <p:nvSpPr>
          <p:cNvPr id="10" name="Text 6"/>
          <p:cNvSpPr/>
          <p:nvPr/>
        </p:nvSpPr>
        <p:spPr>
          <a:xfrm>
            <a:off x="812800" y="6255345"/>
            <a:ext cx="5886450"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C0"/>
                </a:solidFill>
                <a:latin typeface="Arial" pitchFamily="34" charset="0"/>
                <a:ea typeface="Arial" pitchFamily="34" charset="-122"/>
                <a:cs typeface="Arial" pitchFamily="34" charset="-120"/>
              </a:rPr>
              <a:t>Employee Management Analysis</a:t>
            </a:r>
            <a:endParaRPr lang="en-US" sz="1200" dirty="0"/>
          </a:p>
        </p:txBody>
      </p:sp>
      <p:sp>
        <p:nvSpPr>
          <p:cNvPr id="11" name="Text 7"/>
          <p:cNvSpPr/>
          <p:nvPr/>
        </p:nvSpPr>
        <p:spPr>
          <a:xfrm>
            <a:off x="9417050" y="6255345"/>
            <a:ext cx="1962150" cy="2216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3C0"/>
                </a:solidFill>
                <a:latin typeface="Arial" pitchFamily="34" charset="0"/>
                <a:ea typeface="Arial" pitchFamily="34" charset="-122"/>
                <a:cs typeface="Arial" pitchFamily="34" charset="-120"/>
              </a:rPr>
              <a:t>13 / 15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21655"/>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DD4BF"/>
                </a:solidFill>
                <a:latin typeface="Arial" pitchFamily="34" charset="0"/>
                <a:ea typeface="Arial" pitchFamily="34" charset="-122"/>
                <a:cs typeface="Arial" pitchFamily="34" charset="-120"/>
              </a:rPr>
              <a:t>CONCLUSION AND KEY LEARNING</a:t>
            </a:r>
            <a:endParaRPr lang="en-US" sz="1200" dirty="0"/>
          </a:p>
        </p:txBody>
      </p:sp>
      <p:sp>
        <p:nvSpPr>
          <p:cNvPr id="3" name="Text 1"/>
          <p:cNvSpPr/>
          <p:nvPr>
            <p:ph type="title"/>
          </p:nvPr>
        </p:nvSpPr>
        <p:spPr>
          <a:xfrm>
            <a:off x="812800" y="1085255"/>
            <a:ext cx="10883392" cy="43666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6EDF7"/>
                </a:solidFill>
                <a:latin typeface="Arial" pitchFamily="34" charset="0"/>
                <a:ea typeface="Arial" pitchFamily="34" charset="-122"/>
                <a:cs typeface="Arial" pitchFamily="34" charset="-120"/>
              </a:rPr>
              <a:t>From classroom theory to a working application</a:t>
            </a:r>
            <a:endParaRPr lang="en-US" sz="3200" dirty="0"/>
          </a:p>
        </p:txBody>
      </p:sp>
      <p:sp>
        <p:nvSpPr>
          <p:cNvPr id="4" name="Shape 2"/>
          <p:cNvSpPr/>
          <p:nvPr/>
        </p:nvSpPr>
        <p:spPr>
          <a:xfrm>
            <a:off x="815975" y="1804491"/>
            <a:ext cx="5175250" cy="2511673"/>
          </a:xfrm>
          <a:prstGeom prst="roundRect">
            <a:avLst>
              <a:gd name="adj" fmla="val 3919"/>
            </a:avLst>
          </a:prstGeom>
          <a:solidFill>
            <a:srgbClr val="131C30"/>
          </a:solidFill>
          <a:ln w="6350">
            <a:solidFill>
              <a:srgbClr val="25324D"/>
            </a:solidFill>
            <a:prstDash val="solid"/>
          </a:ln>
        </p:spPr>
      </p:sp>
      <p:sp>
        <p:nvSpPr>
          <p:cNvPr id="5" name="Text 3"/>
          <p:cNvSpPr/>
          <p:nvPr/>
        </p:nvSpPr>
        <p:spPr>
          <a:xfrm>
            <a:off x="1073150" y="2061666"/>
            <a:ext cx="4800727" cy="30579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7"/>
                </a:solidFill>
                <a:latin typeface="Arial" pitchFamily="34" charset="0"/>
                <a:ea typeface="Arial" pitchFamily="34" charset="-122"/>
                <a:cs typeface="Arial" pitchFamily="34" charset="-120"/>
              </a:rPr>
              <a:t>Conclusion</a:t>
            </a:r>
            <a:endParaRPr lang="en-US" sz="2000" dirty="0"/>
          </a:p>
        </p:txBody>
      </p:sp>
      <p:sp>
        <p:nvSpPr>
          <p:cNvPr id="6" name="Text 4"/>
          <p:cNvSpPr/>
          <p:nvPr/>
        </p:nvSpPr>
        <p:spPr>
          <a:xfrm>
            <a:off x="1176782" y="2456359"/>
            <a:ext cx="4689475" cy="1628031"/>
          </a:xfrm>
          <a:prstGeom prst="rect">
            <a:avLst/>
          </a:prstGeom>
          <a:noFill/>
          <a:ln/>
        </p:spPr>
        <p:txBody>
          <a:bodyPr wrap="square" lIns="0" tIns="0" rIns="0" bIns="0" rtlCol="0" anchor="t">
            <a:normAutofit/>
          </a:bodyPr>
          <a:lstStyle/>
          <a:p>
            <a:pPr algn="l" marL="150368" indent="-150368">
              <a:lnSpc>
                <a:spcPts val="1960"/>
              </a:lnSpc>
              <a:buSzPct val="100000"/>
              <a:buChar char="•"/>
            </a:pPr>
            <a:r>
              <a:rPr lang="en-US" sz="1400" dirty="0">
                <a:solidFill>
                  <a:srgbClr val="E6EDF7"/>
                </a:solidFill>
                <a:latin typeface="Arial" pitchFamily="34" charset="0"/>
                <a:ea typeface="Arial" pitchFamily="34" charset="-122"/>
                <a:cs typeface="Arial" pitchFamily="34" charset="-120"/>
              </a:rPr>
              <a:t>Completed the Java Full Stack internship at Besant Technologies, Chennai</a:t>
            </a:r>
            <a:endParaRPr lang="en-US" sz="1400" dirty="0"/>
          </a:p>
          <a:p>
            <a:pPr algn="l" marL="150368" indent="-150368">
              <a:lnSpc>
                <a:spcPts val="1960"/>
              </a:lnSpc>
              <a:buSzPct val="100000"/>
              <a:buChar char="•"/>
            </a:pPr>
            <a:r>
              <a:rPr lang="en-US" sz="1400" dirty="0">
                <a:solidFill>
                  <a:srgbClr val="E6EDF7"/>
                </a:solidFill>
                <a:latin typeface="Arial" pitchFamily="34" charset="0"/>
                <a:ea typeface="Arial" pitchFamily="34" charset="-122"/>
                <a:cs typeface="Arial" pitchFamily="34" charset="-120"/>
              </a:rPr>
              <a:t>Built Employee Management Analysis with CRUD, search, reports and role-based access</a:t>
            </a:r>
            <a:endParaRPr lang="en-US" sz="1400" dirty="0"/>
          </a:p>
          <a:p>
            <a:pPr algn="l" marL="150368" indent="-150368">
              <a:lnSpc>
                <a:spcPts val="1960"/>
              </a:lnSpc>
              <a:buSzPct val="100000"/>
              <a:buChar char="•"/>
            </a:pPr>
            <a:r>
              <a:rPr lang="en-US" sz="1400" dirty="0">
                <a:solidFill>
                  <a:srgbClr val="E6EDF7"/>
                </a:solidFill>
                <a:latin typeface="Arial" pitchFamily="34" charset="0"/>
                <a:ea typeface="Arial" pitchFamily="34" charset="-122"/>
                <a:cs typeface="Arial" pitchFamily="34" charset="-120"/>
              </a:rPr>
              <a:t>Used HTML, CSS and JavaScript for the interface, Java for logic and SQL for data</a:t>
            </a:r>
            <a:endParaRPr lang="en-US" sz="1400" dirty="0"/>
          </a:p>
          <a:p>
            <a:pPr algn="l" marL="150368" indent="-150368">
              <a:lnSpc>
                <a:spcPts val="1960"/>
              </a:lnSpc>
              <a:buSzPct val="100000"/>
              <a:buChar char="•"/>
            </a:pPr>
            <a:r>
              <a:rPr lang="en-US" sz="1400" dirty="0">
                <a:solidFill>
                  <a:srgbClr val="E6EDF7"/>
                </a:solidFill>
                <a:latin typeface="Arial" pitchFamily="34" charset="0"/>
                <a:ea typeface="Arial" pitchFamily="34" charset="-122"/>
                <a:cs typeface="Arial" pitchFamily="34" charset="-120"/>
              </a:rPr>
              <a:t>Bridged the gap between academic learning and industry practice</a:t>
            </a:r>
            <a:endParaRPr lang="en-US" sz="1400" dirty="0"/>
          </a:p>
        </p:txBody>
      </p:sp>
      <p:sp>
        <p:nvSpPr>
          <p:cNvPr id="7" name="Shape 5"/>
          <p:cNvSpPr/>
          <p:nvPr/>
        </p:nvSpPr>
        <p:spPr>
          <a:xfrm>
            <a:off x="6200775" y="1804491"/>
            <a:ext cx="5175250" cy="2511673"/>
          </a:xfrm>
          <a:prstGeom prst="roundRect">
            <a:avLst>
              <a:gd name="adj" fmla="val 3919"/>
            </a:avLst>
          </a:prstGeom>
          <a:solidFill>
            <a:srgbClr val="131C30"/>
          </a:solidFill>
          <a:ln w="6350">
            <a:solidFill>
              <a:srgbClr val="25324D"/>
            </a:solidFill>
            <a:prstDash val="solid"/>
          </a:ln>
        </p:spPr>
      </p:sp>
      <p:sp>
        <p:nvSpPr>
          <p:cNvPr id="8" name="Text 6"/>
          <p:cNvSpPr/>
          <p:nvPr/>
        </p:nvSpPr>
        <p:spPr>
          <a:xfrm>
            <a:off x="6457950" y="2061666"/>
            <a:ext cx="4800727" cy="30579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7"/>
                </a:solidFill>
                <a:latin typeface="Arial" pitchFamily="34" charset="0"/>
                <a:ea typeface="Arial" pitchFamily="34" charset="-122"/>
                <a:cs typeface="Arial" pitchFamily="34" charset="-120"/>
              </a:rPr>
              <a:t>Skills gained</a:t>
            </a:r>
            <a:endParaRPr lang="en-US" sz="2000" dirty="0"/>
          </a:p>
        </p:txBody>
      </p:sp>
      <p:sp>
        <p:nvSpPr>
          <p:cNvPr id="9" name="Text 7"/>
          <p:cNvSpPr/>
          <p:nvPr/>
        </p:nvSpPr>
        <p:spPr>
          <a:xfrm>
            <a:off x="6561582" y="2456359"/>
            <a:ext cx="4689475" cy="1170136"/>
          </a:xfrm>
          <a:prstGeom prst="rect">
            <a:avLst/>
          </a:prstGeom>
          <a:noFill/>
          <a:ln/>
        </p:spPr>
        <p:txBody>
          <a:bodyPr wrap="square" lIns="0" tIns="0" rIns="0" bIns="0" rtlCol="0" anchor="t">
            <a:normAutofit/>
          </a:bodyPr>
          <a:lstStyle/>
          <a:p>
            <a:pPr algn="l" marL="150368" indent="-150368">
              <a:lnSpc>
                <a:spcPts val="1960"/>
              </a:lnSpc>
              <a:buSzPct val="100000"/>
              <a:buChar char="•"/>
            </a:pPr>
            <a:r>
              <a:rPr lang="en-US" sz="1400" dirty="0">
                <a:solidFill>
                  <a:srgbClr val="E6EDF7"/>
                </a:solidFill>
                <a:latin typeface="Arial" pitchFamily="34" charset="0"/>
                <a:ea typeface="Arial" pitchFamily="34" charset="-122"/>
                <a:cs typeface="Arial" pitchFamily="34" charset="-120"/>
              </a:rPr>
              <a:t>Object-oriented programming in Java</a:t>
            </a:r>
            <a:endParaRPr lang="en-US" sz="1400" dirty="0"/>
          </a:p>
          <a:p>
            <a:pPr algn="l" marL="150368" indent="-150368">
              <a:lnSpc>
                <a:spcPts val="1960"/>
              </a:lnSpc>
              <a:buSzPct val="100000"/>
              <a:buChar char="•"/>
            </a:pPr>
            <a:r>
              <a:rPr lang="en-US" sz="1400" dirty="0">
                <a:solidFill>
                  <a:srgbClr val="E6EDF7"/>
                </a:solidFill>
                <a:latin typeface="Arial" pitchFamily="34" charset="0"/>
                <a:ea typeface="Arial" pitchFamily="34" charset="-122"/>
                <a:cs typeface="Arial" pitchFamily="34" charset="-120"/>
              </a:rPr>
              <a:t>Web pages with HTML and CSS; validation with JavaScript</a:t>
            </a:r>
            <a:endParaRPr lang="en-US" sz="1400" dirty="0"/>
          </a:p>
          <a:p>
            <a:pPr algn="l" marL="150368" indent="-150368">
              <a:lnSpc>
                <a:spcPts val="1960"/>
              </a:lnSpc>
              <a:buSzPct val="100000"/>
              <a:buChar char="•"/>
            </a:pPr>
            <a:r>
              <a:rPr lang="en-US" sz="1400" dirty="0">
                <a:solidFill>
                  <a:srgbClr val="E6EDF7"/>
                </a:solidFill>
                <a:latin typeface="Arial" pitchFamily="34" charset="0"/>
                <a:ea typeface="Arial" pitchFamily="34" charset="-122"/>
                <a:cs typeface="Arial" pitchFamily="34" charset="-120"/>
              </a:rPr>
              <a:t>Relational database design and SQL queries</a:t>
            </a:r>
            <a:endParaRPr lang="en-US" sz="1400" dirty="0"/>
          </a:p>
          <a:p>
            <a:pPr algn="l" marL="150368" indent="-150368">
              <a:lnSpc>
                <a:spcPts val="1960"/>
              </a:lnSpc>
              <a:buSzPct val="100000"/>
              <a:buChar char="•"/>
            </a:pPr>
            <a:r>
              <a:rPr lang="en-US" sz="1400" dirty="0">
                <a:solidFill>
                  <a:srgbClr val="E6EDF7"/>
                </a:solidFill>
                <a:latin typeface="Arial" pitchFamily="34" charset="0"/>
                <a:ea typeface="Arial" pitchFamily="34" charset="-122"/>
                <a:cs typeface="Arial" pitchFamily="34" charset="-120"/>
              </a:rPr>
              <a:t>How front end, back end and database connect</a:t>
            </a:r>
            <a:endParaRPr lang="en-US" sz="1400" dirty="0"/>
          </a:p>
          <a:p>
            <a:pPr algn="l" marL="150368" indent="-150368">
              <a:lnSpc>
                <a:spcPts val="1960"/>
              </a:lnSpc>
              <a:buSzPct val="100000"/>
              <a:buChar char="•"/>
            </a:pPr>
            <a:r>
              <a:rPr lang="en-US" sz="1400" dirty="0">
                <a:solidFill>
                  <a:srgbClr val="E6EDF7"/>
                </a:solidFill>
                <a:latin typeface="Arial" pitchFamily="34" charset="0"/>
                <a:ea typeface="Arial" pitchFamily="34" charset="-122"/>
                <a:cs typeface="Arial" pitchFamily="34" charset="-120"/>
              </a:rPr>
              <a:t>Preparing test cases and checking application behaviour</a:t>
            </a:r>
            <a:endParaRPr lang="en-US" sz="1400" dirty="0"/>
          </a:p>
        </p:txBody>
      </p:sp>
      <p:sp>
        <p:nvSpPr>
          <p:cNvPr id="10" name="Text 8"/>
          <p:cNvSpPr/>
          <p:nvPr/>
        </p:nvSpPr>
        <p:spPr>
          <a:xfrm>
            <a:off x="812800" y="6255345"/>
            <a:ext cx="5886450" cy="22165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C0"/>
                </a:solidFill>
                <a:latin typeface="Arial" pitchFamily="34" charset="0"/>
                <a:ea typeface="Arial" pitchFamily="34" charset="-122"/>
                <a:cs typeface="Arial" pitchFamily="34" charset="-120"/>
              </a:rPr>
              <a:t>Employee Management Analysis</a:t>
            </a:r>
            <a:endParaRPr lang="en-US" sz="1200" dirty="0"/>
          </a:p>
        </p:txBody>
      </p:sp>
      <p:sp>
        <p:nvSpPr>
          <p:cNvPr id="11" name="Text 9"/>
          <p:cNvSpPr/>
          <p:nvPr/>
        </p:nvSpPr>
        <p:spPr>
          <a:xfrm>
            <a:off x="9417050" y="6255345"/>
            <a:ext cx="1962150" cy="22165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3C0"/>
                </a:solidFill>
                <a:latin typeface="Arial" pitchFamily="34" charset="0"/>
                <a:ea typeface="Arial" pitchFamily="34" charset="-122"/>
                <a:cs typeface="Arial" pitchFamily="34" charset="-120"/>
              </a:rPr>
              <a:t>14 / 15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p:bgPr>
    </p:bg>
    <p:spTree>
      <p:nvGrpSpPr>
        <p:cNvPr id="1" name=""/>
        <p:cNvGrpSpPr/>
        <p:nvPr/>
      </p:nvGrpSpPr>
      <p:grpSpPr>
        <a:xfrm>
          <a:off x="0" y="0"/>
          <a:ext cx="0" cy="0"/>
          <a:chOff x="0" y="0"/>
          <a:chExt cx="0" cy="0"/>
        </a:xfrm>
      </p:grpSpPr>
      <p:sp>
        <p:nvSpPr>
          <p:cNvPr id="2" name="Text 0"/>
          <p:cNvSpPr/>
          <p:nvPr>
            <p:ph type="title"/>
          </p:nvPr>
        </p:nvSpPr>
        <p:spPr>
          <a:xfrm>
            <a:off x="812800" y="2553990"/>
            <a:ext cx="10883392" cy="796528"/>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E6EDF7"/>
                </a:solidFill>
                <a:latin typeface="Arial" pitchFamily="34" charset="0"/>
                <a:ea typeface="Arial" pitchFamily="34" charset="-122"/>
                <a:cs typeface="Arial" pitchFamily="34" charset="-120"/>
              </a:rPr>
              <a:t>Thank you</a:t>
            </a:r>
            <a:endParaRPr lang="en-US" sz="6000" dirty="0"/>
          </a:p>
        </p:txBody>
      </p:sp>
      <p:sp>
        <p:nvSpPr>
          <p:cNvPr id="3" name="Text 1"/>
          <p:cNvSpPr/>
          <p:nvPr/>
        </p:nvSpPr>
        <p:spPr>
          <a:xfrm>
            <a:off x="812800" y="3528318"/>
            <a:ext cx="10883392" cy="352524"/>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DD4BF"/>
                </a:solidFill>
                <a:latin typeface="Arial" pitchFamily="34" charset="0"/>
                <a:ea typeface="Arial" pitchFamily="34" charset="-122"/>
                <a:cs typeface="Arial" pitchFamily="34" charset="-120"/>
              </a:rPr>
              <a:t>Surjith S | 810023205031</a:t>
            </a:r>
            <a:endParaRPr lang="en-US" sz="2000" dirty="0"/>
          </a:p>
        </p:txBody>
      </p:sp>
      <p:sp>
        <p:nvSpPr>
          <p:cNvPr id="4" name="Text 2"/>
          <p:cNvSpPr/>
          <p:nvPr/>
        </p:nvSpPr>
        <p:spPr>
          <a:xfrm>
            <a:off x="812800" y="4058642"/>
            <a:ext cx="10883392" cy="270768"/>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8FA3C0"/>
                </a:solidFill>
                <a:latin typeface="Arial" pitchFamily="34" charset="0"/>
                <a:ea typeface="Arial" pitchFamily="34" charset="-122"/>
                <a:cs typeface="Arial" pitchFamily="34" charset="-120"/>
              </a:rPr>
              <a:t>Department of Information Technology, University College of Engineering, BIT Campus, Anna University, Tiruchirappalli</a:t>
            </a:r>
            <a:endParaRPr lang="en-US" sz="1500" dirty="0"/>
          </a:p>
        </p:txBody>
      </p:sp>
    </p:spTree>
  </p:cSld>
  <p:clrMapOvr>
    <a:masterClrMapping/>
  </p:clrMapOvr>
</p:sld>
</file>

<file path=ppt/theme/theme1.xml><?xml version="1.0" encoding="utf-8"?>
<a:theme xmlns:a="http://schemas.openxmlformats.org/drawingml/2006/main" name="Employee Management Analysis – Internship Review">
  <a:themeElements>
    <a:clrScheme name="Employee Management Analysis – Internship Review">
      <a:dk1>
        <a:srgbClr val="0B1220"/>
      </a:dk1>
      <a:lt1>
        <a:srgbClr val="E6EDF7"/>
      </a:lt1>
      <a:dk2>
        <a:srgbClr val="212836"/>
      </a:dk2>
      <a:lt2>
        <a:srgbClr val="AFB6C1"/>
      </a:lt2>
      <a:accent1>
        <a:srgbClr val="8FA3C0"/>
      </a:accent1>
      <a:accent2>
        <a:srgbClr val="2DD4BF"/>
      </a:accent2>
      <a:accent3>
        <a:srgbClr val="14334F"/>
      </a:accent3>
      <a:accent4>
        <a:srgbClr val="1A2640"/>
      </a:accent4>
      <a:accent5>
        <a:srgbClr val="3B2A17"/>
      </a:accent5>
      <a:accent6>
        <a:srgbClr val="2B2747"/>
      </a:accent6>
      <a:hlink>
        <a:srgbClr val="0563C1"/>
      </a:hlink>
      <a:folHlink>
        <a:srgbClr val="954F72"/>
      </a:folHlink>
    </a:clrScheme>
    <a:fontScheme name="Employee Management Analysis – Internship Revi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Management Analysis – Internship Review</dc:title>
  <dc:subject/>
  <dc:creator/>
  <cp:lastModifiedBy/>
  <cp:revision>1</cp:revision>
  <dcterms:created xsi:type="dcterms:W3CDTF">2026-10-22T03:09:04Z</dcterms:created>
  <dcterms:modified xsi:type="dcterms:W3CDTF">2026-10-22T03:09:04Z</dcterms:modified>
</cp:coreProperties>
</file>